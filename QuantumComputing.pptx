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9" r:id="rId3"/>
    <p:sldId id="260" r:id="rId4"/>
    <p:sldId id="261" r:id="rId5"/>
    <p:sldId id="262" r:id="rId6"/>
    <p:sldId id="263" r:id="rId7"/>
    <p:sldId id="265" r:id="rId8"/>
    <p:sldId id="268" r:id="rId9"/>
    <p:sldId id="269" r:id="rId10"/>
    <p:sldId id="266" r:id="rId11"/>
    <p:sldId id="270" r:id="rId12"/>
    <p:sldId id="271" r:id="rId13"/>
    <p:sldId id="272" r:id="rId14"/>
    <p:sldId id="267" r:id="rId15"/>
    <p:sldId id="273" r:id="rId16"/>
    <p:sldId id="274" r:id="rId17"/>
    <p:sldId id="275" r:id="rId18"/>
    <p:sldId id="258" r:id="rId19"/>
    <p:sldId id="257" r:id="rId20"/>
    <p:sldId id="264"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2B62DFA-F337-684C-9A99-7EDD9ECF61F8}" v="370" dt="2026-01-17T21:24:21.47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289"/>
    <p:restoredTop sz="94718"/>
  </p:normalViewPr>
  <p:slideViewPr>
    <p:cSldViewPr snapToGrid="0">
      <p:cViewPr varScale="1">
        <p:scale>
          <a:sx n="219" d="100"/>
          <a:sy n="219" d="100"/>
        </p:scale>
        <p:origin x="232" y="3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5/10/relationships/revisionInfo" Target="revisionInfo.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A6624-BB52-7A1A-129E-B93A4C88BB0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F09F9CC-EB49-88CE-C178-AF27170ACD5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01B9088-EBDE-7ED3-CB13-A5B81F5D652D}"/>
              </a:ext>
            </a:extLst>
          </p:cNvPr>
          <p:cNvSpPr>
            <a:spLocks noGrp="1"/>
          </p:cNvSpPr>
          <p:nvPr>
            <p:ph type="dt" sz="half" idx="10"/>
          </p:nvPr>
        </p:nvSpPr>
        <p:spPr/>
        <p:txBody>
          <a:bodyPr/>
          <a:lstStyle/>
          <a:p>
            <a:fld id="{1D73699E-5244-254A-989E-B2675C6B6A36}" type="datetimeFigureOut">
              <a:rPr lang="en-US" smtClean="0"/>
              <a:t>1/16/26</a:t>
            </a:fld>
            <a:endParaRPr lang="en-US"/>
          </a:p>
        </p:txBody>
      </p:sp>
      <p:sp>
        <p:nvSpPr>
          <p:cNvPr id="5" name="Footer Placeholder 4">
            <a:extLst>
              <a:ext uri="{FF2B5EF4-FFF2-40B4-BE49-F238E27FC236}">
                <a16:creationId xmlns:a16="http://schemas.microsoft.com/office/drawing/2014/main" id="{4AF09A78-8D3E-0C43-9349-6BBA9B22791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9575FDA-F85A-07D9-0716-6D778ABF052A}"/>
              </a:ext>
            </a:extLst>
          </p:cNvPr>
          <p:cNvSpPr>
            <a:spLocks noGrp="1"/>
          </p:cNvSpPr>
          <p:nvPr>
            <p:ph type="sldNum" sz="quarter" idx="12"/>
          </p:nvPr>
        </p:nvSpPr>
        <p:spPr/>
        <p:txBody>
          <a:bodyPr/>
          <a:lstStyle/>
          <a:p>
            <a:fld id="{A7741F20-810B-CC4A-A73E-C930459955D6}" type="slidenum">
              <a:rPr lang="en-US" smtClean="0"/>
              <a:t>‹#›</a:t>
            </a:fld>
            <a:endParaRPr lang="en-US"/>
          </a:p>
        </p:txBody>
      </p:sp>
    </p:spTree>
    <p:extLst>
      <p:ext uri="{BB962C8B-B14F-4D97-AF65-F5344CB8AC3E}">
        <p14:creationId xmlns:p14="http://schemas.microsoft.com/office/powerpoint/2010/main" val="26259635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EB109E-9F8E-84D9-4442-4F5F5717FE4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9CE3217-E128-CD58-6237-3C94A6B2A93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3CC8A5B-7246-0DB9-E6E2-CDC8895F325F}"/>
              </a:ext>
            </a:extLst>
          </p:cNvPr>
          <p:cNvSpPr>
            <a:spLocks noGrp="1"/>
          </p:cNvSpPr>
          <p:nvPr>
            <p:ph type="dt" sz="half" idx="10"/>
          </p:nvPr>
        </p:nvSpPr>
        <p:spPr/>
        <p:txBody>
          <a:bodyPr/>
          <a:lstStyle/>
          <a:p>
            <a:fld id="{1D73699E-5244-254A-989E-B2675C6B6A36}" type="datetimeFigureOut">
              <a:rPr lang="en-US" smtClean="0"/>
              <a:t>1/16/26</a:t>
            </a:fld>
            <a:endParaRPr lang="en-US"/>
          </a:p>
        </p:txBody>
      </p:sp>
      <p:sp>
        <p:nvSpPr>
          <p:cNvPr id="5" name="Footer Placeholder 4">
            <a:extLst>
              <a:ext uri="{FF2B5EF4-FFF2-40B4-BE49-F238E27FC236}">
                <a16:creationId xmlns:a16="http://schemas.microsoft.com/office/drawing/2014/main" id="{F34E1401-6D14-1A26-3BA8-B0043300AC4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E861790-DEF0-F6E3-A7E0-D2EEF193AD7C}"/>
              </a:ext>
            </a:extLst>
          </p:cNvPr>
          <p:cNvSpPr>
            <a:spLocks noGrp="1"/>
          </p:cNvSpPr>
          <p:nvPr>
            <p:ph type="sldNum" sz="quarter" idx="12"/>
          </p:nvPr>
        </p:nvSpPr>
        <p:spPr/>
        <p:txBody>
          <a:bodyPr/>
          <a:lstStyle/>
          <a:p>
            <a:fld id="{A7741F20-810B-CC4A-A73E-C930459955D6}" type="slidenum">
              <a:rPr lang="en-US" smtClean="0"/>
              <a:t>‹#›</a:t>
            </a:fld>
            <a:endParaRPr lang="en-US"/>
          </a:p>
        </p:txBody>
      </p:sp>
    </p:spTree>
    <p:extLst>
      <p:ext uri="{BB962C8B-B14F-4D97-AF65-F5344CB8AC3E}">
        <p14:creationId xmlns:p14="http://schemas.microsoft.com/office/powerpoint/2010/main" val="372052478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D9D404-8784-2A71-B240-CAB9613C73B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812C45C-4CF0-8D56-C0BD-45DDD1D20AC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4554C0E-1892-9F1C-14EE-95BFEAF269D2}"/>
              </a:ext>
            </a:extLst>
          </p:cNvPr>
          <p:cNvSpPr>
            <a:spLocks noGrp="1"/>
          </p:cNvSpPr>
          <p:nvPr>
            <p:ph type="dt" sz="half" idx="10"/>
          </p:nvPr>
        </p:nvSpPr>
        <p:spPr/>
        <p:txBody>
          <a:bodyPr/>
          <a:lstStyle/>
          <a:p>
            <a:fld id="{1D73699E-5244-254A-989E-B2675C6B6A36}" type="datetimeFigureOut">
              <a:rPr lang="en-US" smtClean="0"/>
              <a:t>1/16/26</a:t>
            </a:fld>
            <a:endParaRPr lang="en-US"/>
          </a:p>
        </p:txBody>
      </p:sp>
      <p:sp>
        <p:nvSpPr>
          <p:cNvPr id="5" name="Footer Placeholder 4">
            <a:extLst>
              <a:ext uri="{FF2B5EF4-FFF2-40B4-BE49-F238E27FC236}">
                <a16:creationId xmlns:a16="http://schemas.microsoft.com/office/drawing/2014/main" id="{3709E6DF-DC3B-9AEC-DF0B-380D241F2A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AED9F49-BBE2-8433-B5DF-C0821963CC08}"/>
              </a:ext>
            </a:extLst>
          </p:cNvPr>
          <p:cNvSpPr>
            <a:spLocks noGrp="1"/>
          </p:cNvSpPr>
          <p:nvPr>
            <p:ph type="sldNum" sz="quarter" idx="12"/>
          </p:nvPr>
        </p:nvSpPr>
        <p:spPr/>
        <p:txBody>
          <a:bodyPr/>
          <a:lstStyle/>
          <a:p>
            <a:fld id="{A7741F20-810B-CC4A-A73E-C930459955D6}" type="slidenum">
              <a:rPr lang="en-US" smtClean="0"/>
              <a:t>‹#›</a:t>
            </a:fld>
            <a:endParaRPr lang="en-US"/>
          </a:p>
        </p:txBody>
      </p:sp>
    </p:spTree>
    <p:extLst>
      <p:ext uri="{BB962C8B-B14F-4D97-AF65-F5344CB8AC3E}">
        <p14:creationId xmlns:p14="http://schemas.microsoft.com/office/powerpoint/2010/main" val="11514836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918F5-E90B-7EEB-BF2F-01041B96540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BD683C4-CBD3-1F58-3BE0-179879BF90A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AB63912-D4A6-65EA-351F-52CF518321B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C575D76-C724-3135-B8F1-6870F04F796A}"/>
              </a:ext>
            </a:extLst>
          </p:cNvPr>
          <p:cNvSpPr>
            <a:spLocks noGrp="1"/>
          </p:cNvSpPr>
          <p:nvPr>
            <p:ph type="dt" sz="half" idx="10"/>
          </p:nvPr>
        </p:nvSpPr>
        <p:spPr/>
        <p:txBody>
          <a:bodyPr/>
          <a:lstStyle/>
          <a:p>
            <a:fld id="{1D73699E-5244-254A-989E-B2675C6B6A36}" type="datetimeFigureOut">
              <a:rPr lang="en-US" smtClean="0"/>
              <a:t>1/16/26</a:t>
            </a:fld>
            <a:endParaRPr lang="en-US"/>
          </a:p>
        </p:txBody>
      </p:sp>
      <p:sp>
        <p:nvSpPr>
          <p:cNvPr id="6" name="Footer Placeholder 5">
            <a:extLst>
              <a:ext uri="{FF2B5EF4-FFF2-40B4-BE49-F238E27FC236}">
                <a16:creationId xmlns:a16="http://schemas.microsoft.com/office/drawing/2014/main" id="{BD074EB4-CD9B-1A62-6645-803037D6C0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665BF8-7B1D-EFA1-0586-0CB1C83306DD}"/>
              </a:ext>
            </a:extLst>
          </p:cNvPr>
          <p:cNvSpPr>
            <a:spLocks noGrp="1"/>
          </p:cNvSpPr>
          <p:nvPr>
            <p:ph type="sldNum" sz="quarter" idx="12"/>
          </p:nvPr>
        </p:nvSpPr>
        <p:spPr/>
        <p:txBody>
          <a:bodyPr/>
          <a:lstStyle/>
          <a:p>
            <a:fld id="{A7741F20-810B-CC4A-A73E-C930459955D6}" type="slidenum">
              <a:rPr lang="en-US" smtClean="0"/>
              <a:t>‹#›</a:t>
            </a:fld>
            <a:endParaRPr lang="en-US"/>
          </a:p>
        </p:txBody>
      </p:sp>
    </p:spTree>
    <p:extLst>
      <p:ext uri="{BB962C8B-B14F-4D97-AF65-F5344CB8AC3E}">
        <p14:creationId xmlns:p14="http://schemas.microsoft.com/office/powerpoint/2010/main" val="276689569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3B7B92-208E-1E61-0C7B-B03998390ED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3D930BA-E12E-9BD2-9D0F-5C5B1500974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278D3B9-D77B-42F0-D1FB-EF20F1D16CB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482AC2E-B468-DB2D-62D6-B5ECF3E620D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302B2C3-714F-606E-B499-6D5FD33DD82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3305299-2269-9B94-53F5-C095A242F81B}"/>
              </a:ext>
            </a:extLst>
          </p:cNvPr>
          <p:cNvSpPr>
            <a:spLocks noGrp="1"/>
          </p:cNvSpPr>
          <p:nvPr>
            <p:ph type="dt" sz="half" idx="10"/>
          </p:nvPr>
        </p:nvSpPr>
        <p:spPr/>
        <p:txBody>
          <a:bodyPr/>
          <a:lstStyle/>
          <a:p>
            <a:fld id="{1D73699E-5244-254A-989E-B2675C6B6A36}" type="datetimeFigureOut">
              <a:rPr lang="en-US" smtClean="0"/>
              <a:t>1/16/26</a:t>
            </a:fld>
            <a:endParaRPr lang="en-US"/>
          </a:p>
        </p:txBody>
      </p:sp>
      <p:sp>
        <p:nvSpPr>
          <p:cNvPr id="8" name="Footer Placeholder 7">
            <a:extLst>
              <a:ext uri="{FF2B5EF4-FFF2-40B4-BE49-F238E27FC236}">
                <a16:creationId xmlns:a16="http://schemas.microsoft.com/office/drawing/2014/main" id="{C75922CC-891B-DC3C-07DC-19FBDC43EFC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8A82E1F-A2B4-1339-94C7-EBD533F5893A}"/>
              </a:ext>
            </a:extLst>
          </p:cNvPr>
          <p:cNvSpPr>
            <a:spLocks noGrp="1"/>
          </p:cNvSpPr>
          <p:nvPr>
            <p:ph type="sldNum" sz="quarter" idx="12"/>
          </p:nvPr>
        </p:nvSpPr>
        <p:spPr/>
        <p:txBody>
          <a:bodyPr/>
          <a:lstStyle/>
          <a:p>
            <a:fld id="{A7741F20-810B-CC4A-A73E-C930459955D6}" type="slidenum">
              <a:rPr lang="en-US" smtClean="0"/>
              <a:t>‹#›</a:t>
            </a:fld>
            <a:endParaRPr lang="en-US"/>
          </a:p>
        </p:txBody>
      </p:sp>
    </p:spTree>
    <p:extLst>
      <p:ext uri="{BB962C8B-B14F-4D97-AF65-F5344CB8AC3E}">
        <p14:creationId xmlns:p14="http://schemas.microsoft.com/office/powerpoint/2010/main" val="257778968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4DC200-55CC-E74E-F0E8-9B03A679BD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A26C7A89-1A4F-54B0-8149-3B42CE07494D}"/>
              </a:ext>
            </a:extLst>
          </p:cNvPr>
          <p:cNvSpPr>
            <a:spLocks noGrp="1"/>
          </p:cNvSpPr>
          <p:nvPr>
            <p:ph type="dt" sz="half" idx="10"/>
          </p:nvPr>
        </p:nvSpPr>
        <p:spPr/>
        <p:txBody>
          <a:bodyPr/>
          <a:lstStyle/>
          <a:p>
            <a:fld id="{1D73699E-5244-254A-989E-B2675C6B6A36}" type="datetimeFigureOut">
              <a:rPr lang="en-US" smtClean="0"/>
              <a:t>1/16/26</a:t>
            </a:fld>
            <a:endParaRPr lang="en-US"/>
          </a:p>
        </p:txBody>
      </p:sp>
      <p:sp>
        <p:nvSpPr>
          <p:cNvPr id="4" name="Footer Placeholder 3">
            <a:extLst>
              <a:ext uri="{FF2B5EF4-FFF2-40B4-BE49-F238E27FC236}">
                <a16:creationId xmlns:a16="http://schemas.microsoft.com/office/drawing/2014/main" id="{8CD37013-76F8-7BD2-4818-3A903846119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17CB6301-9E94-0C3C-07CA-6D5C5E33A11A}"/>
              </a:ext>
            </a:extLst>
          </p:cNvPr>
          <p:cNvSpPr>
            <a:spLocks noGrp="1"/>
          </p:cNvSpPr>
          <p:nvPr>
            <p:ph type="sldNum" sz="quarter" idx="12"/>
          </p:nvPr>
        </p:nvSpPr>
        <p:spPr/>
        <p:txBody>
          <a:bodyPr/>
          <a:lstStyle/>
          <a:p>
            <a:fld id="{A7741F20-810B-CC4A-A73E-C930459955D6}" type="slidenum">
              <a:rPr lang="en-US" smtClean="0"/>
              <a:t>‹#›</a:t>
            </a:fld>
            <a:endParaRPr lang="en-US"/>
          </a:p>
        </p:txBody>
      </p:sp>
    </p:spTree>
    <p:extLst>
      <p:ext uri="{BB962C8B-B14F-4D97-AF65-F5344CB8AC3E}">
        <p14:creationId xmlns:p14="http://schemas.microsoft.com/office/powerpoint/2010/main" val="410803940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68908EA-29B6-0EB8-CD36-3A288DC5C9C7}"/>
              </a:ext>
            </a:extLst>
          </p:cNvPr>
          <p:cNvSpPr>
            <a:spLocks noGrp="1"/>
          </p:cNvSpPr>
          <p:nvPr>
            <p:ph type="dt" sz="half" idx="10"/>
          </p:nvPr>
        </p:nvSpPr>
        <p:spPr/>
        <p:txBody>
          <a:bodyPr/>
          <a:lstStyle/>
          <a:p>
            <a:fld id="{1D73699E-5244-254A-989E-B2675C6B6A36}" type="datetimeFigureOut">
              <a:rPr lang="en-US" smtClean="0"/>
              <a:t>1/16/26</a:t>
            </a:fld>
            <a:endParaRPr lang="en-US"/>
          </a:p>
        </p:txBody>
      </p:sp>
      <p:sp>
        <p:nvSpPr>
          <p:cNvPr id="3" name="Footer Placeholder 2">
            <a:extLst>
              <a:ext uri="{FF2B5EF4-FFF2-40B4-BE49-F238E27FC236}">
                <a16:creationId xmlns:a16="http://schemas.microsoft.com/office/drawing/2014/main" id="{DCA8DE8C-B2FB-FC84-0E0F-1DFC4CAB214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23F4A41-D1FE-26C2-A28E-2A86B1A4855F}"/>
              </a:ext>
            </a:extLst>
          </p:cNvPr>
          <p:cNvSpPr>
            <a:spLocks noGrp="1"/>
          </p:cNvSpPr>
          <p:nvPr>
            <p:ph type="sldNum" sz="quarter" idx="12"/>
          </p:nvPr>
        </p:nvSpPr>
        <p:spPr/>
        <p:txBody>
          <a:bodyPr/>
          <a:lstStyle/>
          <a:p>
            <a:fld id="{A7741F20-810B-CC4A-A73E-C930459955D6}" type="slidenum">
              <a:rPr lang="en-US" smtClean="0"/>
              <a:t>‹#›</a:t>
            </a:fld>
            <a:endParaRPr lang="en-US"/>
          </a:p>
        </p:txBody>
      </p:sp>
    </p:spTree>
    <p:extLst>
      <p:ext uri="{BB962C8B-B14F-4D97-AF65-F5344CB8AC3E}">
        <p14:creationId xmlns:p14="http://schemas.microsoft.com/office/powerpoint/2010/main" val="91998118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38B9D3-1CA6-6EBB-ACCC-1594F64777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8B94BAF-BFBC-A5EE-E270-33E85E83450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16A9F10-AECF-9DD7-5C02-34F1821D1EC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B8CA452-B0DA-009B-43E0-DB1322745FB0}"/>
              </a:ext>
            </a:extLst>
          </p:cNvPr>
          <p:cNvSpPr>
            <a:spLocks noGrp="1"/>
          </p:cNvSpPr>
          <p:nvPr>
            <p:ph type="dt" sz="half" idx="10"/>
          </p:nvPr>
        </p:nvSpPr>
        <p:spPr/>
        <p:txBody>
          <a:bodyPr/>
          <a:lstStyle/>
          <a:p>
            <a:fld id="{1D73699E-5244-254A-989E-B2675C6B6A36}" type="datetimeFigureOut">
              <a:rPr lang="en-US" smtClean="0"/>
              <a:t>1/16/26</a:t>
            </a:fld>
            <a:endParaRPr lang="en-US"/>
          </a:p>
        </p:txBody>
      </p:sp>
      <p:sp>
        <p:nvSpPr>
          <p:cNvPr id="6" name="Footer Placeholder 5">
            <a:extLst>
              <a:ext uri="{FF2B5EF4-FFF2-40B4-BE49-F238E27FC236}">
                <a16:creationId xmlns:a16="http://schemas.microsoft.com/office/drawing/2014/main" id="{81D304EC-859C-0293-09D4-35B44E77FE4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84649BC-568B-F915-013E-553C079921BD}"/>
              </a:ext>
            </a:extLst>
          </p:cNvPr>
          <p:cNvSpPr>
            <a:spLocks noGrp="1"/>
          </p:cNvSpPr>
          <p:nvPr>
            <p:ph type="sldNum" sz="quarter" idx="12"/>
          </p:nvPr>
        </p:nvSpPr>
        <p:spPr/>
        <p:txBody>
          <a:bodyPr/>
          <a:lstStyle/>
          <a:p>
            <a:fld id="{A7741F20-810B-CC4A-A73E-C930459955D6}" type="slidenum">
              <a:rPr lang="en-US" smtClean="0"/>
              <a:t>‹#›</a:t>
            </a:fld>
            <a:endParaRPr lang="en-US"/>
          </a:p>
        </p:txBody>
      </p:sp>
    </p:spTree>
    <p:extLst>
      <p:ext uri="{BB962C8B-B14F-4D97-AF65-F5344CB8AC3E}">
        <p14:creationId xmlns:p14="http://schemas.microsoft.com/office/powerpoint/2010/main" val="153478794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980037-500E-2683-1B68-569446ECCF9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D0BD614-C92D-9483-2957-7A3FA7332AC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5C088ED-015F-E041-C765-F53904A98F8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838384B-E877-2E04-D5BF-6FEA7CCA29BF}"/>
              </a:ext>
            </a:extLst>
          </p:cNvPr>
          <p:cNvSpPr>
            <a:spLocks noGrp="1"/>
          </p:cNvSpPr>
          <p:nvPr>
            <p:ph type="dt" sz="half" idx="10"/>
          </p:nvPr>
        </p:nvSpPr>
        <p:spPr/>
        <p:txBody>
          <a:bodyPr/>
          <a:lstStyle/>
          <a:p>
            <a:fld id="{1D73699E-5244-254A-989E-B2675C6B6A36}" type="datetimeFigureOut">
              <a:rPr lang="en-US" smtClean="0"/>
              <a:t>1/16/26</a:t>
            </a:fld>
            <a:endParaRPr lang="en-US"/>
          </a:p>
        </p:txBody>
      </p:sp>
      <p:sp>
        <p:nvSpPr>
          <p:cNvPr id="6" name="Footer Placeholder 5">
            <a:extLst>
              <a:ext uri="{FF2B5EF4-FFF2-40B4-BE49-F238E27FC236}">
                <a16:creationId xmlns:a16="http://schemas.microsoft.com/office/drawing/2014/main" id="{C6D6D99C-E718-B536-6C34-84E89D1EDCA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1FAD337-5FB6-0769-E4DE-D60ED3B052CB}"/>
              </a:ext>
            </a:extLst>
          </p:cNvPr>
          <p:cNvSpPr>
            <a:spLocks noGrp="1"/>
          </p:cNvSpPr>
          <p:nvPr>
            <p:ph type="sldNum" sz="quarter" idx="12"/>
          </p:nvPr>
        </p:nvSpPr>
        <p:spPr/>
        <p:txBody>
          <a:bodyPr/>
          <a:lstStyle/>
          <a:p>
            <a:fld id="{A7741F20-810B-CC4A-A73E-C930459955D6}" type="slidenum">
              <a:rPr lang="en-US" smtClean="0"/>
              <a:t>‹#›</a:t>
            </a:fld>
            <a:endParaRPr lang="en-US"/>
          </a:p>
        </p:txBody>
      </p:sp>
    </p:spTree>
    <p:extLst>
      <p:ext uri="{BB962C8B-B14F-4D97-AF65-F5344CB8AC3E}">
        <p14:creationId xmlns:p14="http://schemas.microsoft.com/office/powerpoint/2010/main" val="39789702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AB735E-2D5E-975F-5368-1CB61B06432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22AFD49-198E-3C03-A50F-08F0E7599D2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D598D66-B39D-9AF7-4E8F-988E9A1E90ED}"/>
              </a:ext>
            </a:extLst>
          </p:cNvPr>
          <p:cNvSpPr>
            <a:spLocks noGrp="1"/>
          </p:cNvSpPr>
          <p:nvPr>
            <p:ph type="dt" sz="half" idx="10"/>
          </p:nvPr>
        </p:nvSpPr>
        <p:spPr/>
        <p:txBody>
          <a:bodyPr/>
          <a:lstStyle/>
          <a:p>
            <a:fld id="{1D73699E-5244-254A-989E-B2675C6B6A36}" type="datetimeFigureOut">
              <a:rPr lang="en-US" smtClean="0"/>
              <a:t>1/16/26</a:t>
            </a:fld>
            <a:endParaRPr lang="en-US"/>
          </a:p>
        </p:txBody>
      </p:sp>
      <p:sp>
        <p:nvSpPr>
          <p:cNvPr id="5" name="Footer Placeholder 4">
            <a:extLst>
              <a:ext uri="{FF2B5EF4-FFF2-40B4-BE49-F238E27FC236}">
                <a16:creationId xmlns:a16="http://schemas.microsoft.com/office/drawing/2014/main" id="{5E6B1751-D90F-F927-85EB-8D9A7B644E9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6E2E855-6A60-5B0D-E3D4-3C81256EA66C}"/>
              </a:ext>
            </a:extLst>
          </p:cNvPr>
          <p:cNvSpPr>
            <a:spLocks noGrp="1"/>
          </p:cNvSpPr>
          <p:nvPr>
            <p:ph type="sldNum" sz="quarter" idx="12"/>
          </p:nvPr>
        </p:nvSpPr>
        <p:spPr/>
        <p:txBody>
          <a:bodyPr/>
          <a:lstStyle/>
          <a:p>
            <a:fld id="{A7741F20-810B-CC4A-A73E-C930459955D6}" type="slidenum">
              <a:rPr lang="en-US" smtClean="0"/>
              <a:t>‹#›</a:t>
            </a:fld>
            <a:endParaRPr lang="en-US"/>
          </a:p>
        </p:txBody>
      </p:sp>
    </p:spTree>
    <p:extLst>
      <p:ext uri="{BB962C8B-B14F-4D97-AF65-F5344CB8AC3E}">
        <p14:creationId xmlns:p14="http://schemas.microsoft.com/office/powerpoint/2010/main" val="426115779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C1CC95E-2C24-1D88-ADAB-46CADF810938}"/>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B380CAF-0189-3FC4-1D1D-37FDFE26E0C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0FB3AD3-5E2D-CA6C-35FA-E94FC5A18194}"/>
              </a:ext>
            </a:extLst>
          </p:cNvPr>
          <p:cNvSpPr>
            <a:spLocks noGrp="1"/>
          </p:cNvSpPr>
          <p:nvPr>
            <p:ph type="dt" sz="half" idx="10"/>
          </p:nvPr>
        </p:nvSpPr>
        <p:spPr/>
        <p:txBody>
          <a:bodyPr/>
          <a:lstStyle/>
          <a:p>
            <a:fld id="{1D73699E-5244-254A-989E-B2675C6B6A36}" type="datetimeFigureOut">
              <a:rPr lang="en-US" smtClean="0"/>
              <a:t>1/16/26</a:t>
            </a:fld>
            <a:endParaRPr lang="en-US"/>
          </a:p>
        </p:txBody>
      </p:sp>
      <p:sp>
        <p:nvSpPr>
          <p:cNvPr id="5" name="Footer Placeholder 4">
            <a:extLst>
              <a:ext uri="{FF2B5EF4-FFF2-40B4-BE49-F238E27FC236}">
                <a16:creationId xmlns:a16="http://schemas.microsoft.com/office/drawing/2014/main" id="{A5FA9B4F-A5DA-3F99-3698-3A3C7E8A972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116FE6F-2028-0C38-80C7-8D2246F86019}"/>
              </a:ext>
            </a:extLst>
          </p:cNvPr>
          <p:cNvSpPr>
            <a:spLocks noGrp="1"/>
          </p:cNvSpPr>
          <p:nvPr>
            <p:ph type="sldNum" sz="quarter" idx="12"/>
          </p:nvPr>
        </p:nvSpPr>
        <p:spPr/>
        <p:txBody>
          <a:bodyPr/>
          <a:lstStyle/>
          <a:p>
            <a:fld id="{A7741F20-810B-CC4A-A73E-C930459955D6}" type="slidenum">
              <a:rPr lang="en-US" smtClean="0"/>
              <a:t>‹#›</a:t>
            </a:fld>
            <a:endParaRPr lang="en-US"/>
          </a:p>
        </p:txBody>
      </p:sp>
    </p:spTree>
    <p:extLst>
      <p:ext uri="{BB962C8B-B14F-4D97-AF65-F5344CB8AC3E}">
        <p14:creationId xmlns:p14="http://schemas.microsoft.com/office/powerpoint/2010/main" val="50552054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9EE9C59-DB01-E0E4-AE4A-F3649512836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EC7816A-A639-4524-6745-0352DDFBE8C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8FC0F26-B628-768C-37D2-50FBE3B35C6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D73699E-5244-254A-989E-B2675C6B6A36}" type="datetimeFigureOut">
              <a:rPr lang="en-US" smtClean="0"/>
              <a:t>1/16/26</a:t>
            </a:fld>
            <a:endParaRPr lang="en-US"/>
          </a:p>
        </p:txBody>
      </p:sp>
      <p:sp>
        <p:nvSpPr>
          <p:cNvPr id="5" name="Footer Placeholder 4">
            <a:extLst>
              <a:ext uri="{FF2B5EF4-FFF2-40B4-BE49-F238E27FC236}">
                <a16:creationId xmlns:a16="http://schemas.microsoft.com/office/drawing/2014/main" id="{6D6259E6-7EE6-EAF5-6CEE-00F7F768F0B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2C0D9E32-1518-99D1-E8D4-B9366F0437E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7741F20-810B-CC4A-A73E-C930459955D6}" type="slidenum">
              <a:rPr lang="en-US" smtClean="0"/>
              <a:t>‹#›</a:t>
            </a:fld>
            <a:endParaRPr lang="en-US"/>
          </a:p>
        </p:txBody>
      </p:sp>
    </p:spTree>
    <p:extLst>
      <p:ext uri="{BB962C8B-B14F-4D97-AF65-F5344CB8AC3E}">
        <p14:creationId xmlns:p14="http://schemas.microsoft.com/office/powerpoint/2010/main" val="214365793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www.science.org/content/article/scientists-are-close-building-quantum-computer-can-beat-conventional-one" TargetMode="External"/><Relationship Id="rId2" Type="http://schemas.openxmlformats.org/officeDocument/2006/relationships/image" Target="../media/image3.jp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hyperlink" Target="https://docs.dwavequantum.com/en/latest/quantum_research/quantum_annealing_intro.html" TargetMode="External"/><Relationship Id="rId2" Type="http://schemas.openxmlformats.org/officeDocument/2006/relationships/image" Target="../media/image5.png"/><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hyperlink" Target="https://www.spinquanta.com/news-detail/understanding-quantum-entanglement-the-ultimate-expert-guide" TargetMode="External"/></Relationships>
</file>

<file path=ppt/slides/_rels/slide11.xml.rels><?xml version="1.0" encoding="UTF-8" standalone="yes"?>
<Relationships xmlns="http://schemas.openxmlformats.org/package/2006/relationships"><Relationship Id="rId2" Type="http://schemas.openxmlformats.org/officeDocument/2006/relationships/hyperlink" Target="https://www.spinquanta.com/news-detail/entanglement-in-quantum-computing" TargetMode="Externa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hyperlink" Target="https://doi.org/10.1038/s41467-021-22539-9" TargetMode="External"/><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318DED-4665-921E-42CF-0BDE3FB2A53B}"/>
              </a:ext>
            </a:extLst>
          </p:cNvPr>
          <p:cNvSpPr>
            <a:spLocks noGrp="1"/>
          </p:cNvSpPr>
          <p:nvPr>
            <p:ph type="ctrTitle"/>
          </p:nvPr>
        </p:nvSpPr>
        <p:spPr/>
        <p:txBody>
          <a:bodyPr/>
          <a:lstStyle/>
          <a:p>
            <a:r>
              <a:rPr lang="en-US" dirty="0"/>
              <a:t>Quantum Computing</a:t>
            </a:r>
          </a:p>
        </p:txBody>
      </p:sp>
      <p:sp>
        <p:nvSpPr>
          <p:cNvPr id="3" name="Subtitle 2">
            <a:extLst>
              <a:ext uri="{FF2B5EF4-FFF2-40B4-BE49-F238E27FC236}">
                <a16:creationId xmlns:a16="http://schemas.microsoft.com/office/drawing/2014/main" id="{9577B0EF-4051-661E-A233-8650C79E9012}"/>
              </a:ext>
            </a:extLst>
          </p:cNvPr>
          <p:cNvSpPr>
            <a:spLocks noGrp="1"/>
          </p:cNvSpPr>
          <p:nvPr>
            <p:ph type="subTitle" idx="1"/>
          </p:nvPr>
        </p:nvSpPr>
        <p:spPr/>
        <p:txBody>
          <a:bodyPr/>
          <a:lstStyle/>
          <a:p>
            <a:r>
              <a:rPr lang="en-US" dirty="0"/>
              <a:t>Something we should start to think about?</a:t>
            </a:r>
          </a:p>
          <a:p>
            <a:endParaRPr lang="en-US" dirty="0"/>
          </a:p>
          <a:p>
            <a:r>
              <a:rPr lang="en-US" dirty="0"/>
              <a:t>A simple overview from a bioinformatics point of view</a:t>
            </a:r>
          </a:p>
        </p:txBody>
      </p:sp>
    </p:spTree>
    <p:extLst>
      <p:ext uri="{BB962C8B-B14F-4D97-AF65-F5344CB8AC3E}">
        <p14:creationId xmlns:p14="http://schemas.microsoft.com/office/powerpoint/2010/main" val="23509083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r/xkcd - Quantum computing papers">
            <a:extLst>
              <a:ext uri="{FF2B5EF4-FFF2-40B4-BE49-F238E27FC236}">
                <a16:creationId xmlns:a16="http://schemas.microsoft.com/office/drawing/2014/main" id="{1B6266F2-F367-7195-6F29-8A394B0E188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76761" y="283028"/>
            <a:ext cx="3681952" cy="629194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D421DD74-D691-CC58-063F-B9170C08BE54}"/>
              </a:ext>
            </a:extLst>
          </p:cNvPr>
          <p:cNvSpPr txBox="1"/>
          <p:nvPr/>
        </p:nvSpPr>
        <p:spPr>
          <a:xfrm>
            <a:off x="6629399" y="6581001"/>
            <a:ext cx="5562601" cy="276999"/>
          </a:xfrm>
          <a:prstGeom prst="rect">
            <a:avLst/>
          </a:prstGeom>
          <a:noFill/>
        </p:spPr>
        <p:txBody>
          <a:bodyPr wrap="square">
            <a:spAutoFit/>
          </a:bodyPr>
          <a:lstStyle/>
          <a:p>
            <a:r>
              <a:rPr lang="en-US" sz="1200" dirty="0"/>
              <a:t>https://</a:t>
            </a:r>
            <a:r>
              <a:rPr lang="en-US" sz="1200" dirty="0" err="1"/>
              <a:t>www.reddit.com</a:t>
            </a:r>
            <a:r>
              <a:rPr lang="en-US" sz="1200" dirty="0"/>
              <a:t>/r/</a:t>
            </a:r>
            <a:r>
              <a:rPr lang="en-US" sz="1200" dirty="0" err="1"/>
              <a:t>xkcd</a:t>
            </a:r>
            <a:r>
              <a:rPr lang="en-US" sz="1200" dirty="0"/>
              <a:t>/comments/n33728/</a:t>
            </a:r>
            <a:r>
              <a:rPr lang="en-US" sz="1200" dirty="0" err="1"/>
              <a:t>quantum_computing_papers</a:t>
            </a:r>
            <a:r>
              <a:rPr lang="en-US" sz="1200" dirty="0"/>
              <a:t>/</a:t>
            </a:r>
          </a:p>
        </p:txBody>
      </p:sp>
      <p:sp>
        <p:nvSpPr>
          <p:cNvPr id="6" name="TextBox 5">
            <a:extLst>
              <a:ext uri="{FF2B5EF4-FFF2-40B4-BE49-F238E27FC236}">
                <a16:creationId xmlns:a16="http://schemas.microsoft.com/office/drawing/2014/main" id="{69EC4016-72E6-F52B-738D-87CF349A7E8E}"/>
              </a:ext>
            </a:extLst>
          </p:cNvPr>
          <p:cNvSpPr txBox="1"/>
          <p:nvPr/>
        </p:nvSpPr>
        <p:spPr>
          <a:xfrm>
            <a:off x="1152096" y="1428563"/>
            <a:ext cx="4409460" cy="1200329"/>
          </a:xfrm>
          <a:prstGeom prst="rect">
            <a:avLst/>
          </a:prstGeom>
          <a:noFill/>
        </p:spPr>
        <p:txBody>
          <a:bodyPr wrap="square" rtlCol="0">
            <a:spAutoFit/>
          </a:bodyPr>
          <a:lstStyle/>
          <a:p>
            <a:r>
              <a:rPr lang="en-US" sz="7200" dirty="0"/>
              <a:t>Warning</a:t>
            </a:r>
          </a:p>
        </p:txBody>
      </p:sp>
    </p:spTree>
    <p:extLst>
      <p:ext uri="{BB962C8B-B14F-4D97-AF65-F5344CB8AC3E}">
        <p14:creationId xmlns:p14="http://schemas.microsoft.com/office/powerpoint/2010/main" val="39480506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BBA998-5066-BB33-E386-920472E8F074}"/>
              </a:ext>
            </a:extLst>
          </p:cNvPr>
          <p:cNvSpPr>
            <a:spLocks noGrp="1"/>
          </p:cNvSpPr>
          <p:nvPr>
            <p:ph type="title"/>
          </p:nvPr>
        </p:nvSpPr>
        <p:spPr/>
        <p:txBody>
          <a:bodyPr/>
          <a:lstStyle/>
          <a:p>
            <a:r>
              <a:rPr lang="en-US" dirty="0"/>
              <a:t>Outline</a:t>
            </a:r>
          </a:p>
        </p:txBody>
      </p:sp>
      <p:sp>
        <p:nvSpPr>
          <p:cNvPr id="3" name="Content Placeholder 2">
            <a:extLst>
              <a:ext uri="{FF2B5EF4-FFF2-40B4-BE49-F238E27FC236}">
                <a16:creationId xmlns:a16="http://schemas.microsoft.com/office/drawing/2014/main" id="{38DC0F57-A6FA-C530-0F77-20C50B9729AD}"/>
              </a:ext>
            </a:extLst>
          </p:cNvPr>
          <p:cNvSpPr>
            <a:spLocks noGrp="1"/>
          </p:cNvSpPr>
          <p:nvPr>
            <p:ph idx="1"/>
          </p:nvPr>
        </p:nvSpPr>
        <p:spPr>
          <a:xfrm>
            <a:off x="838200" y="1825625"/>
            <a:ext cx="5257800" cy="4351338"/>
          </a:xfrm>
        </p:spPr>
        <p:txBody>
          <a:bodyPr/>
          <a:lstStyle/>
          <a:p>
            <a:r>
              <a:rPr lang="en-US" dirty="0"/>
              <a:t>History &amp; Background</a:t>
            </a:r>
          </a:p>
          <a:p>
            <a:r>
              <a:rPr lang="en-US" dirty="0"/>
              <a:t>Introduction</a:t>
            </a:r>
          </a:p>
          <a:p>
            <a:pPr lvl="1"/>
            <a:r>
              <a:rPr lang="en-US" dirty="0"/>
              <a:t>Qubit</a:t>
            </a:r>
          </a:p>
          <a:p>
            <a:pPr lvl="1"/>
            <a:r>
              <a:rPr lang="en-US" dirty="0"/>
              <a:t>Superposition</a:t>
            </a:r>
          </a:p>
          <a:p>
            <a:pPr lvl="1"/>
            <a:r>
              <a:rPr lang="en-US" dirty="0"/>
              <a:t>Entanglement</a:t>
            </a:r>
          </a:p>
          <a:p>
            <a:r>
              <a:rPr lang="en-US" dirty="0"/>
              <a:t>Quantum Advantage</a:t>
            </a:r>
          </a:p>
          <a:p>
            <a:r>
              <a:rPr lang="en-US" dirty="0"/>
              <a:t>Quantum Machine Learning</a:t>
            </a:r>
          </a:p>
          <a:p>
            <a:endParaRPr lang="en-US" dirty="0"/>
          </a:p>
        </p:txBody>
      </p:sp>
      <p:pic>
        <p:nvPicPr>
          <p:cNvPr id="2050" name="Picture 2" descr="Cleveland Clinic and IBM Unveil First Quantum Computer Dedicated to  Healthcare Research">
            <a:extLst>
              <a:ext uri="{FF2B5EF4-FFF2-40B4-BE49-F238E27FC236}">
                <a16:creationId xmlns:a16="http://schemas.microsoft.com/office/drawing/2014/main" id="{237AD315-48AF-E5C9-D3A0-8397895D726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37093" y="1164921"/>
            <a:ext cx="4905453" cy="326929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309006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C3BF4D-0BBF-5C93-FF0F-900688B691E0}"/>
              </a:ext>
            </a:extLst>
          </p:cNvPr>
          <p:cNvSpPr>
            <a:spLocks noGrp="1"/>
          </p:cNvSpPr>
          <p:nvPr>
            <p:ph type="title"/>
          </p:nvPr>
        </p:nvSpPr>
        <p:spPr/>
        <p:txBody>
          <a:bodyPr/>
          <a:lstStyle/>
          <a:p>
            <a:r>
              <a:rPr lang="en-US" dirty="0"/>
              <a:t>What is a Quantum Computer</a:t>
            </a:r>
          </a:p>
        </p:txBody>
      </p:sp>
      <p:sp>
        <p:nvSpPr>
          <p:cNvPr id="3" name="Content Placeholder 2">
            <a:extLst>
              <a:ext uri="{FF2B5EF4-FFF2-40B4-BE49-F238E27FC236}">
                <a16:creationId xmlns:a16="http://schemas.microsoft.com/office/drawing/2014/main" id="{B94DE5A9-95EF-03A8-8EF4-9C9476C654C4}"/>
              </a:ext>
            </a:extLst>
          </p:cNvPr>
          <p:cNvSpPr>
            <a:spLocks noGrp="1"/>
          </p:cNvSpPr>
          <p:nvPr>
            <p:ph idx="1"/>
          </p:nvPr>
        </p:nvSpPr>
        <p:spPr>
          <a:xfrm>
            <a:off x="534693" y="1825625"/>
            <a:ext cx="11360256" cy="4351338"/>
          </a:xfrm>
        </p:spPr>
        <p:txBody>
          <a:bodyPr>
            <a:normAutofit/>
          </a:bodyPr>
          <a:lstStyle/>
          <a:p>
            <a:r>
              <a:rPr lang="en-US" dirty="0"/>
              <a:t>A quantum computer is a (real or theoretical) computer that exploits superposed and entangled states</a:t>
            </a:r>
          </a:p>
          <a:p>
            <a:r>
              <a:rPr lang="en-US" dirty="0"/>
              <a:t>Uses Qubits instead of traditional bits</a:t>
            </a:r>
          </a:p>
          <a:p>
            <a:pPr lvl="1"/>
            <a:r>
              <a:rPr lang="en-US" dirty="0"/>
              <a:t>These can exist in many states at the same time – </a:t>
            </a:r>
            <a:r>
              <a:rPr lang="en-US" b="1" i="1" dirty="0"/>
              <a:t>Superposition</a:t>
            </a:r>
          </a:p>
          <a:p>
            <a:pPr lvl="1"/>
            <a:r>
              <a:rPr lang="en-US" dirty="0"/>
              <a:t>They can be linked, affecting each other – </a:t>
            </a:r>
            <a:r>
              <a:rPr lang="en-US" b="1" i="1" dirty="0"/>
              <a:t>Entanglement</a:t>
            </a:r>
          </a:p>
          <a:p>
            <a:pPr lvl="1"/>
            <a:r>
              <a:rPr lang="en-US" dirty="0"/>
              <a:t>Wrong answers are canceled out, amplifying the correct answer </a:t>
            </a:r>
            <a:r>
              <a:rPr lang="en-US" i="1" dirty="0"/>
              <a:t>- </a:t>
            </a:r>
            <a:r>
              <a:rPr lang="en-US" b="1" i="1" dirty="0"/>
              <a:t>Interference</a:t>
            </a:r>
          </a:p>
          <a:p>
            <a:r>
              <a:rPr lang="en-US" dirty="0"/>
              <a:t>Based on quantum mechanics</a:t>
            </a:r>
          </a:p>
          <a:p>
            <a:r>
              <a:rPr lang="en-US" dirty="0"/>
              <a:t>Proposed by Richard Feynman in 1982</a:t>
            </a:r>
          </a:p>
          <a:p>
            <a:r>
              <a:rPr lang="en-US" dirty="0"/>
              <a:t>Several types of different hardware implementations</a:t>
            </a:r>
          </a:p>
          <a:p>
            <a:endParaRPr lang="en-US" dirty="0"/>
          </a:p>
        </p:txBody>
      </p:sp>
    </p:spTree>
    <p:extLst>
      <p:ext uri="{BB962C8B-B14F-4D97-AF65-F5344CB8AC3E}">
        <p14:creationId xmlns:p14="http://schemas.microsoft.com/office/powerpoint/2010/main" val="15232789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A diagram of a diagram of a cell&#10;&#10;AI-generated content may be incorrect.">
            <a:extLst>
              <a:ext uri="{FF2B5EF4-FFF2-40B4-BE49-F238E27FC236}">
                <a16:creationId xmlns:a16="http://schemas.microsoft.com/office/drawing/2014/main" id="{90772A88-A2E4-C1A6-28BB-592219415038}"/>
              </a:ext>
            </a:extLst>
          </p:cNvPr>
          <p:cNvPicPr>
            <a:picLocks noChangeAspect="1"/>
          </p:cNvPicPr>
          <p:nvPr/>
        </p:nvPicPr>
        <p:blipFill>
          <a:blip r:embed="rId2"/>
          <a:srcRect b="44338"/>
          <a:stretch>
            <a:fillRect/>
          </a:stretch>
        </p:blipFill>
        <p:spPr>
          <a:xfrm>
            <a:off x="0" y="140918"/>
            <a:ext cx="6035040" cy="5806670"/>
          </a:xfrm>
          <a:prstGeom prst="rect">
            <a:avLst/>
          </a:prstGeom>
        </p:spPr>
      </p:pic>
      <p:pic>
        <p:nvPicPr>
          <p:cNvPr id="8" name="Picture 7" descr="A diagram of a diagram of a cell&#10;&#10;AI-generated content may be incorrect.">
            <a:extLst>
              <a:ext uri="{FF2B5EF4-FFF2-40B4-BE49-F238E27FC236}">
                <a16:creationId xmlns:a16="http://schemas.microsoft.com/office/drawing/2014/main" id="{BB6BEB96-F5CC-0F1B-0C8C-E547D14BC205}"/>
              </a:ext>
            </a:extLst>
          </p:cNvPr>
          <p:cNvPicPr>
            <a:picLocks noChangeAspect="1"/>
          </p:cNvPicPr>
          <p:nvPr/>
        </p:nvPicPr>
        <p:blipFill>
          <a:blip r:embed="rId2"/>
          <a:srcRect t="57371"/>
          <a:stretch>
            <a:fillRect/>
          </a:stretch>
        </p:blipFill>
        <p:spPr>
          <a:xfrm>
            <a:off x="6096000" y="140918"/>
            <a:ext cx="6030385" cy="4443608"/>
          </a:xfrm>
          <a:prstGeom prst="rect">
            <a:avLst/>
          </a:prstGeom>
        </p:spPr>
      </p:pic>
      <p:sp>
        <p:nvSpPr>
          <p:cNvPr id="9" name="TextBox 8">
            <a:extLst>
              <a:ext uri="{FF2B5EF4-FFF2-40B4-BE49-F238E27FC236}">
                <a16:creationId xmlns:a16="http://schemas.microsoft.com/office/drawing/2014/main" id="{4EDE6A3B-001F-0A5D-F769-94EA3D264DE1}"/>
              </a:ext>
            </a:extLst>
          </p:cNvPr>
          <p:cNvSpPr txBox="1"/>
          <p:nvPr/>
        </p:nvSpPr>
        <p:spPr>
          <a:xfrm>
            <a:off x="137786" y="6350696"/>
            <a:ext cx="10972800" cy="276999"/>
          </a:xfrm>
          <a:prstGeom prst="rect">
            <a:avLst/>
          </a:prstGeom>
          <a:noFill/>
        </p:spPr>
        <p:txBody>
          <a:bodyPr wrap="square" rtlCol="0">
            <a:spAutoFit/>
          </a:bodyPr>
          <a:lstStyle/>
          <a:p>
            <a:r>
              <a:rPr lang="en-US" sz="1200" dirty="0">
                <a:hlinkClick r:id="rId3"/>
              </a:rPr>
              <a:t>https://www.science.org/content/article/scientists-are-close-building-quantum-computer-can-beat-conventional-one</a:t>
            </a:r>
            <a:r>
              <a:rPr lang="en-US" sz="1200" dirty="0"/>
              <a:t> </a:t>
            </a:r>
          </a:p>
        </p:txBody>
      </p:sp>
    </p:spTree>
    <p:extLst>
      <p:ext uri="{BB962C8B-B14F-4D97-AF65-F5344CB8AC3E}">
        <p14:creationId xmlns:p14="http://schemas.microsoft.com/office/powerpoint/2010/main" val="21548852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100" name="Picture 4">
            <a:extLst>
              <a:ext uri="{FF2B5EF4-FFF2-40B4-BE49-F238E27FC236}">
                <a16:creationId xmlns:a16="http://schemas.microsoft.com/office/drawing/2014/main" id="{A9FA4238-3458-ECFD-666F-0272076B346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46895" y="-1"/>
            <a:ext cx="5490540" cy="6813885"/>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6A1328F6-97B3-CA05-D5FE-71D28212430C}"/>
              </a:ext>
            </a:extLst>
          </p:cNvPr>
          <p:cNvSpPr txBox="1"/>
          <p:nvPr/>
        </p:nvSpPr>
        <p:spPr>
          <a:xfrm>
            <a:off x="8826285" y="5936247"/>
            <a:ext cx="5002078" cy="830997"/>
          </a:xfrm>
          <a:prstGeom prst="rect">
            <a:avLst/>
          </a:prstGeom>
          <a:noFill/>
        </p:spPr>
        <p:txBody>
          <a:bodyPr wrap="square">
            <a:spAutoFit/>
          </a:bodyPr>
          <a:lstStyle/>
          <a:p>
            <a:r>
              <a:rPr lang="en-US" sz="1200" dirty="0"/>
              <a:t>Quantum Computing Modalities</a:t>
            </a:r>
          </a:p>
          <a:p>
            <a:r>
              <a:rPr lang="en-US" sz="1200" dirty="0"/>
              <a:t>A Qubit Primer Re-Revisited in December 2024</a:t>
            </a:r>
          </a:p>
          <a:p>
            <a:r>
              <a:rPr lang="en-US" sz="1200" dirty="0"/>
              <a:t>Russ Fein</a:t>
            </a:r>
          </a:p>
          <a:p>
            <a:r>
              <a:rPr lang="en-US" sz="1200" dirty="0"/>
              <a:t>Dec 13, 2024</a:t>
            </a:r>
          </a:p>
        </p:txBody>
      </p:sp>
    </p:spTree>
    <p:extLst>
      <p:ext uri="{BB962C8B-B14F-4D97-AF65-F5344CB8AC3E}">
        <p14:creationId xmlns:p14="http://schemas.microsoft.com/office/powerpoint/2010/main" val="250620732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4" name="Picture 4">
            <a:extLst>
              <a:ext uri="{FF2B5EF4-FFF2-40B4-BE49-F238E27FC236}">
                <a16:creationId xmlns:a16="http://schemas.microsoft.com/office/drawing/2014/main" id="{F767BC18-637E-B6DE-D609-AB906081792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5504" y="1501435"/>
            <a:ext cx="3780763" cy="2226404"/>
          </a:xfrm>
          <a:prstGeom prst="rect">
            <a:avLst/>
          </a:prstGeom>
          <a:noFill/>
          <a:extLst>
            <a:ext uri="{909E8E84-426E-40DD-AFC4-6F175D3DCCD1}">
              <a14:hiddenFill xmlns:a14="http://schemas.microsoft.com/office/drawing/2010/main">
                <a:solidFill>
                  <a:srgbClr val="FFFFFF"/>
                </a:solidFill>
              </a14:hiddenFill>
            </a:ext>
          </a:extLst>
        </p:spPr>
      </p:pic>
      <p:pic>
        <p:nvPicPr>
          <p:cNvPr id="5126" name="Picture 6">
            <a:extLst>
              <a:ext uri="{FF2B5EF4-FFF2-40B4-BE49-F238E27FC236}">
                <a16:creationId xmlns:a16="http://schemas.microsoft.com/office/drawing/2014/main" id="{1772AEE6-8262-EA77-CC6F-B87B3EB2AEC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7935" y="4313353"/>
            <a:ext cx="5532895" cy="1896993"/>
          </a:xfrm>
          <a:prstGeom prst="rect">
            <a:avLst/>
          </a:prstGeom>
          <a:noFill/>
          <a:extLst>
            <a:ext uri="{909E8E84-426E-40DD-AFC4-6F175D3DCCD1}">
              <a14:hiddenFill xmlns:a14="http://schemas.microsoft.com/office/drawing/2010/main">
                <a:solidFill>
                  <a:srgbClr val="FFFFFF"/>
                </a:solidFill>
              </a14:hiddenFill>
            </a:ext>
          </a:extLst>
        </p:spPr>
      </p:pic>
      <p:pic>
        <p:nvPicPr>
          <p:cNvPr id="5128" name="Picture 8">
            <a:extLst>
              <a:ext uri="{FF2B5EF4-FFF2-40B4-BE49-F238E27FC236}">
                <a16:creationId xmlns:a16="http://schemas.microsoft.com/office/drawing/2014/main" id="{A7B471C7-0E7B-59EF-EC43-CC6FE02BEFE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96000" y="515670"/>
            <a:ext cx="5380496" cy="1971530"/>
          </a:xfrm>
          <a:prstGeom prst="rect">
            <a:avLst/>
          </a:prstGeom>
          <a:noFill/>
          <a:extLst>
            <a:ext uri="{909E8E84-426E-40DD-AFC4-6F175D3DCCD1}">
              <a14:hiddenFill xmlns:a14="http://schemas.microsoft.com/office/drawing/2010/main">
                <a:solidFill>
                  <a:srgbClr val="FFFFFF"/>
                </a:solidFill>
              </a14:hiddenFill>
            </a:ext>
          </a:extLst>
        </p:spPr>
      </p:pic>
      <p:pic>
        <p:nvPicPr>
          <p:cNvPr id="5130" name="Picture 10">
            <a:extLst>
              <a:ext uri="{FF2B5EF4-FFF2-40B4-BE49-F238E27FC236}">
                <a16:creationId xmlns:a16="http://schemas.microsoft.com/office/drawing/2014/main" id="{78182F80-9ADB-61A6-B98B-40D6BAC175D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949414" y="3192649"/>
            <a:ext cx="2159515" cy="1820313"/>
          </a:xfrm>
          <a:prstGeom prst="rect">
            <a:avLst/>
          </a:prstGeom>
          <a:noFill/>
          <a:extLst>
            <a:ext uri="{909E8E84-426E-40DD-AFC4-6F175D3DCCD1}">
              <a14:hiddenFill xmlns:a14="http://schemas.microsoft.com/office/drawing/2010/main">
                <a:solidFill>
                  <a:srgbClr val="FFFFFF"/>
                </a:solidFill>
              </a14:hiddenFill>
            </a:ext>
          </a:extLst>
        </p:spPr>
      </p:pic>
      <p:pic>
        <p:nvPicPr>
          <p:cNvPr id="5132" name="Picture 12">
            <a:extLst>
              <a:ext uri="{FF2B5EF4-FFF2-40B4-BE49-F238E27FC236}">
                <a16:creationId xmlns:a16="http://schemas.microsoft.com/office/drawing/2014/main" id="{0BF37656-A53E-19DE-F216-BF1AE881F825}"/>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95392" y="134767"/>
            <a:ext cx="3780763" cy="105861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A1AA8727-61EB-996A-A426-446D9DA8EF2F}"/>
              </a:ext>
            </a:extLst>
          </p:cNvPr>
          <p:cNvSpPr txBox="1"/>
          <p:nvPr/>
        </p:nvSpPr>
        <p:spPr>
          <a:xfrm>
            <a:off x="2545596" y="6446234"/>
            <a:ext cx="10000281" cy="276999"/>
          </a:xfrm>
          <a:prstGeom prst="rect">
            <a:avLst/>
          </a:prstGeom>
          <a:noFill/>
        </p:spPr>
        <p:txBody>
          <a:bodyPr wrap="square">
            <a:spAutoFit/>
          </a:bodyPr>
          <a:lstStyle/>
          <a:p>
            <a:r>
              <a:rPr lang="en-US" sz="1200" dirty="0">
                <a:hlinkClick r:id="rId7"/>
              </a:rPr>
              <a:t>https://docs.dwavequantum.com/en/latest/quantum_research/quantum_annealing_intro.html</a:t>
            </a:r>
            <a:r>
              <a:rPr lang="en-US" sz="1200" dirty="0"/>
              <a:t> </a:t>
            </a:r>
          </a:p>
        </p:txBody>
      </p:sp>
    </p:spTree>
    <p:extLst>
      <p:ext uri="{BB962C8B-B14F-4D97-AF65-F5344CB8AC3E}">
        <p14:creationId xmlns:p14="http://schemas.microsoft.com/office/powerpoint/2010/main" val="39875028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468B33-2105-0822-E938-B8000C5ADDF4}"/>
              </a:ext>
            </a:extLst>
          </p:cNvPr>
          <p:cNvSpPr>
            <a:spLocks noGrp="1"/>
          </p:cNvSpPr>
          <p:nvPr>
            <p:ph type="title"/>
          </p:nvPr>
        </p:nvSpPr>
        <p:spPr>
          <a:xfrm>
            <a:off x="838200" y="916"/>
            <a:ext cx="10515600" cy="1325563"/>
          </a:xfrm>
        </p:spPr>
        <p:txBody>
          <a:bodyPr/>
          <a:lstStyle/>
          <a:p>
            <a:r>
              <a:rPr lang="en-US" dirty="0"/>
              <a:t>What is a Qubit?</a:t>
            </a:r>
          </a:p>
        </p:txBody>
      </p:sp>
      <p:sp>
        <p:nvSpPr>
          <p:cNvPr id="5" name="TextBox 4">
            <a:extLst>
              <a:ext uri="{FF2B5EF4-FFF2-40B4-BE49-F238E27FC236}">
                <a16:creationId xmlns:a16="http://schemas.microsoft.com/office/drawing/2014/main" id="{93554122-A87B-D618-4C1E-64F463CFDFAA}"/>
              </a:ext>
            </a:extLst>
          </p:cNvPr>
          <p:cNvSpPr txBox="1"/>
          <p:nvPr/>
        </p:nvSpPr>
        <p:spPr>
          <a:xfrm>
            <a:off x="1848173" y="6492875"/>
            <a:ext cx="9295108" cy="369332"/>
          </a:xfrm>
          <a:prstGeom prst="rect">
            <a:avLst/>
          </a:prstGeom>
          <a:noFill/>
        </p:spPr>
        <p:txBody>
          <a:bodyPr wrap="square">
            <a:spAutoFit/>
          </a:bodyPr>
          <a:lstStyle/>
          <a:p>
            <a:r>
              <a:rPr lang="en-US" dirty="0"/>
              <a:t>https://</a:t>
            </a:r>
            <a:r>
              <a:rPr lang="en-US" dirty="0" err="1"/>
              <a:t>azure.microsoft.com</a:t>
            </a:r>
            <a:r>
              <a:rPr lang="en-US" dirty="0"/>
              <a:t>/</a:t>
            </a:r>
            <a:r>
              <a:rPr lang="en-US" dirty="0" err="1"/>
              <a:t>en</a:t>
            </a:r>
            <a:r>
              <a:rPr lang="en-US" dirty="0"/>
              <a:t>-us/resources/cloud-computing-dictionary/what-is-a-qubit</a:t>
            </a:r>
          </a:p>
        </p:txBody>
      </p:sp>
      <p:sp>
        <p:nvSpPr>
          <p:cNvPr id="9" name="TextBox 8">
            <a:extLst>
              <a:ext uri="{FF2B5EF4-FFF2-40B4-BE49-F238E27FC236}">
                <a16:creationId xmlns:a16="http://schemas.microsoft.com/office/drawing/2014/main" id="{E2A3DC86-6B56-D010-BB91-B1AD69FD8627}"/>
              </a:ext>
            </a:extLst>
          </p:cNvPr>
          <p:cNvSpPr txBox="1"/>
          <p:nvPr/>
        </p:nvSpPr>
        <p:spPr>
          <a:xfrm>
            <a:off x="170481" y="1414562"/>
            <a:ext cx="8381484" cy="5078313"/>
          </a:xfrm>
          <a:prstGeom prst="rect">
            <a:avLst/>
          </a:prstGeom>
          <a:noFill/>
        </p:spPr>
        <p:txBody>
          <a:bodyPr wrap="square">
            <a:spAutoFit/>
          </a:bodyPr>
          <a:lstStyle/>
          <a:p>
            <a:pPr>
              <a:buNone/>
            </a:pPr>
            <a:r>
              <a:rPr lang="en-US" b="1" i="0" dirty="0">
                <a:solidFill>
                  <a:srgbClr val="000000"/>
                </a:solidFill>
                <a:effectLst/>
                <a:latin typeface="Segoe UI" panose="020B0502040204020203" pitchFamily="34" charset="0"/>
              </a:rPr>
              <a:t>Qubit vs bit</a:t>
            </a:r>
          </a:p>
          <a:p>
            <a:pPr>
              <a:buNone/>
            </a:pPr>
            <a:r>
              <a:rPr lang="en-US" b="1" i="0" dirty="0">
                <a:solidFill>
                  <a:srgbClr val="000000"/>
                </a:solidFill>
                <a:effectLst/>
                <a:latin typeface="inherit"/>
              </a:rPr>
              <a:t>Qubits are represented by a superposition of multiple possible states</a:t>
            </a:r>
          </a:p>
          <a:p>
            <a:pPr>
              <a:buNone/>
            </a:pPr>
            <a:r>
              <a:rPr lang="en-US" b="0" i="0" dirty="0">
                <a:solidFill>
                  <a:srgbClr val="000000"/>
                </a:solidFill>
                <a:effectLst/>
                <a:latin typeface="Segoe UI" panose="020B0502040204020203" pitchFamily="34" charset="0"/>
              </a:rPr>
              <a:t>A qubit uses the quantum mechanical phenomena of superposition to achieve a linear combination of two states. A classical binary bit can only represent a single binary value, such as 0 or 1, meaning that it can only be in one of two possible states. A qubit, however, can represent a 0, a 1, or any proportion of 0 and 1 in superposition of both states, with a certain probability of being a 0 and a certain probability of being a 1.</a:t>
            </a:r>
          </a:p>
          <a:p>
            <a:pPr>
              <a:buNone/>
            </a:pPr>
            <a:endParaRPr lang="en-US" b="0" i="0" dirty="0">
              <a:solidFill>
                <a:srgbClr val="000000"/>
              </a:solidFill>
              <a:effectLst/>
              <a:latin typeface="Segoe UI" panose="020B0502040204020203" pitchFamily="34" charset="0"/>
            </a:endParaRPr>
          </a:p>
          <a:p>
            <a:pPr>
              <a:buNone/>
            </a:pPr>
            <a:r>
              <a:rPr lang="en-US" b="1" i="0" dirty="0">
                <a:solidFill>
                  <a:srgbClr val="000000"/>
                </a:solidFill>
                <a:effectLst/>
                <a:latin typeface="inherit"/>
              </a:rPr>
              <a:t>Superposition gives quantum computers superior computing power</a:t>
            </a:r>
          </a:p>
          <a:p>
            <a:pPr>
              <a:buNone/>
            </a:pPr>
            <a:r>
              <a:rPr lang="en-US" b="0" i="0" dirty="0">
                <a:solidFill>
                  <a:srgbClr val="000000"/>
                </a:solidFill>
                <a:effectLst/>
                <a:latin typeface="Segoe UI" panose="020B0502040204020203" pitchFamily="34" charset="0"/>
              </a:rPr>
              <a:t>Superposition allows quantum algorithms to process information in a fraction of the time it would take even the fastest classical systems to solve certain problems.</a:t>
            </a:r>
          </a:p>
          <a:p>
            <a:pPr marL="285750" indent="-285750">
              <a:buFont typeface="Arial" panose="020B0604020202020204" pitchFamily="34" charset="0"/>
              <a:buChar char="•"/>
            </a:pPr>
            <a:r>
              <a:rPr lang="en-US" b="0" i="0" dirty="0">
                <a:solidFill>
                  <a:srgbClr val="000000"/>
                </a:solidFill>
                <a:effectLst/>
                <a:latin typeface="Segoe UI" panose="020B0502040204020203" pitchFamily="34" charset="0"/>
              </a:rPr>
              <a:t>The amount of information a qubit system can represent grows exponentially. Information that 500 qubits can easily represent would not be possible with even more than 2^500 classical bits.</a:t>
            </a:r>
          </a:p>
          <a:p>
            <a:pPr marL="285750" indent="-285750">
              <a:buFont typeface="Arial" panose="020B0604020202020204" pitchFamily="34" charset="0"/>
              <a:buChar char="•"/>
            </a:pPr>
            <a:r>
              <a:rPr lang="en-US" b="0" i="0" dirty="0">
                <a:solidFill>
                  <a:srgbClr val="000000"/>
                </a:solidFill>
                <a:effectLst/>
                <a:latin typeface="Segoe UI" panose="020B0502040204020203" pitchFamily="34" charset="0"/>
              </a:rPr>
              <a:t>It would take a classical computer millions of years to find the prime factors of a 2,048-bit number. Qubits could perform the calculation in just minutes.</a:t>
            </a:r>
          </a:p>
        </p:txBody>
      </p:sp>
      <p:pic>
        <p:nvPicPr>
          <p:cNvPr id="7170" name="Picture 2" descr="What is a Qubit? | Microsoft Azure">
            <a:extLst>
              <a:ext uri="{FF2B5EF4-FFF2-40B4-BE49-F238E27FC236}">
                <a16:creationId xmlns:a16="http://schemas.microsoft.com/office/drawing/2014/main" id="{4E4B590A-0E76-0111-E463-F07B144279C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551964" y="193729"/>
            <a:ext cx="3640035" cy="362660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227905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EC957167-ABA1-F20A-C441-7CA2BD994848}"/>
                  </a:ext>
                </a:extLst>
              </p:cNvPr>
              <p:cNvSpPr>
                <a:spLocks noGrp="1"/>
              </p:cNvSpPr>
              <p:nvPr>
                <p:ph idx="1"/>
              </p:nvPr>
            </p:nvSpPr>
            <p:spPr>
              <a:xfrm>
                <a:off x="117528" y="167305"/>
                <a:ext cx="9661903" cy="4985881"/>
              </a:xfrm>
            </p:spPr>
            <p:txBody>
              <a:bodyPr>
                <a:normAutofit/>
              </a:bodyPr>
              <a:lstStyle/>
              <a:p>
                <a:r>
                  <a:rPr lang="en-US" dirty="0"/>
                  <a:t>Classical</a:t>
                </a:r>
              </a:p>
              <a:p>
                <a:pPr lvl="1"/>
                <a:r>
                  <a:rPr lang="en-US" dirty="0"/>
                  <a:t>A bit is either 0 or 1</a:t>
                </a:r>
              </a:p>
              <a:p>
                <a:r>
                  <a:rPr lang="en-US" dirty="0"/>
                  <a:t>Quantum</a:t>
                </a:r>
              </a:p>
              <a:p>
                <a:pPr lvl="1"/>
                <a:r>
                  <a:rPr lang="en-US" dirty="0"/>
                  <a:t>A qubit is represented by a linear superposition of its two orthonormal basis states, </a:t>
                </a:r>
                <a14:m>
                  <m:oMath xmlns:m="http://schemas.openxmlformats.org/officeDocument/2006/math">
                    <m:d>
                      <m:dPr>
                        <m:begChr m:val="|"/>
                        <m:endChr m:val=""/>
                        <m:ctrlPr>
                          <a:rPr lang="en-US" b="0" i="1" smtClean="0">
                            <a:latin typeface="Cambria Math" panose="02040503050406030204" pitchFamily="18" charset="0"/>
                          </a:rPr>
                        </m:ctrlPr>
                      </m:d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m:t>
                            </m:r>
                          </m:e>
                        </m:d>
                      </m:e>
                    </m:d>
                    <m:r>
                      <a:rPr lang="en-US" b="0" i="0" smtClean="0">
                        <a:latin typeface="Cambria Math" panose="02040503050406030204" pitchFamily="18" charset="0"/>
                      </a:rPr>
                      <m:t>=</m:t>
                    </m:r>
                    <m:d>
                      <m:dPr>
                        <m:begChr m:val="["/>
                        <m:endChr m:val="]"/>
                        <m:ctrlPr>
                          <a:rPr lang="en-US" i="1">
                            <a:latin typeface="Cambria Math" panose="02040503050406030204" pitchFamily="18" charset="0"/>
                          </a:rPr>
                        </m:ctrlPr>
                      </m:dPr>
                      <m:e>
                        <m:m>
                          <m:mPr>
                            <m:mcs>
                              <m:mc>
                                <m:mcPr>
                                  <m:count m:val="1"/>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1</m:t>
                              </m:r>
                            </m:e>
                          </m:mr>
                          <m:mr>
                            <m:e>
                              <m:r>
                                <a:rPr lang="en-US" i="1">
                                  <a:latin typeface="Cambria Math" panose="02040503050406030204" pitchFamily="18" charset="0"/>
                                </a:rPr>
                                <m:t>0</m:t>
                              </m:r>
                            </m:e>
                          </m:mr>
                        </m:m>
                      </m:e>
                    </m:d>
                  </m:oMath>
                </a14:m>
                <a:r>
                  <a:rPr lang="en-US" dirty="0"/>
                  <a:t> and </a:t>
                </a:r>
                <a14:m>
                  <m:oMath xmlns:m="http://schemas.openxmlformats.org/officeDocument/2006/math">
                    <m:d>
                      <m:dPr>
                        <m:begChr m:val="|"/>
                        <m:endChr m:val=""/>
                        <m:ctrlPr>
                          <a:rPr lang="en-US" i="1">
                            <a:latin typeface="Cambria Math" panose="02040503050406030204" pitchFamily="18" charset="0"/>
                          </a:rPr>
                        </m:ctrlPr>
                      </m:dPr>
                      <m:e>
                        <m:d>
                          <m:dPr>
                            <m:begChr m:val=""/>
                            <m:endChr m:val="⟩"/>
                            <m:ctrlPr>
                              <a:rPr lang="en-US" i="1">
                                <a:latin typeface="Cambria Math" panose="02040503050406030204" pitchFamily="18" charset="0"/>
                              </a:rPr>
                            </m:ctrlPr>
                          </m:dPr>
                          <m:e>
                            <m:r>
                              <a:rPr lang="en-US" i="1">
                                <a:latin typeface="Cambria Math" panose="02040503050406030204" pitchFamily="18" charset="0"/>
                              </a:rPr>
                              <m:t>0</m:t>
                            </m:r>
                          </m:e>
                        </m:d>
                      </m:e>
                    </m:d>
                    <m:r>
                      <a:rPr lang="en-US" i="1">
                        <a:latin typeface="Cambria Math" panose="02040503050406030204" pitchFamily="18" charset="0"/>
                      </a:rPr>
                      <m:t>=</m:t>
                    </m:r>
                    <m:d>
                      <m:dPr>
                        <m:begChr m:val="["/>
                        <m:endChr m:val="]"/>
                        <m:ctrlPr>
                          <a:rPr lang="en-US" i="1">
                            <a:latin typeface="Cambria Math" panose="02040503050406030204" pitchFamily="18" charset="0"/>
                          </a:rPr>
                        </m:ctrlPr>
                      </m:dPr>
                      <m:e>
                        <m:m>
                          <m:mPr>
                            <m:mcs>
                              <m:mc>
                                <m:mcPr>
                                  <m:count m:val="1"/>
                                  <m:mcJc m:val="center"/>
                                </m:mcPr>
                              </m:mc>
                            </m:mcs>
                            <m:ctrlPr>
                              <a:rPr lang="en-US" i="1">
                                <a:latin typeface="Cambria Math" panose="02040503050406030204" pitchFamily="18" charset="0"/>
                              </a:rPr>
                            </m:ctrlPr>
                          </m:mPr>
                          <m:mr>
                            <m:e>
                              <m:r>
                                <a:rPr lang="en-US" b="0" i="1" smtClean="0">
                                  <a:latin typeface="Cambria Math" panose="02040503050406030204" pitchFamily="18" charset="0"/>
                                </a:rPr>
                                <m:t>0</m:t>
                              </m:r>
                            </m:e>
                          </m:mr>
                          <m:mr>
                            <m:e>
                              <m:r>
                                <a:rPr lang="en-US" b="0" i="1" smtClean="0">
                                  <a:latin typeface="Cambria Math" panose="02040503050406030204" pitchFamily="18" charset="0"/>
                                </a:rPr>
                                <m:t>1</m:t>
                              </m:r>
                            </m:e>
                          </m:mr>
                        </m:m>
                      </m:e>
                    </m:d>
                  </m:oMath>
                </a14:m>
                <a:r>
                  <a:rPr lang="en-US" dirty="0"/>
                  <a:t> </a:t>
                </a:r>
              </a:p>
              <a:p>
                <a:pPr lvl="1"/>
                <a:r>
                  <a:rPr lang="en-US" dirty="0"/>
                  <a:t>These two basis vectors, </a:t>
                </a:r>
                <a14:m>
                  <m:oMath xmlns:m="http://schemas.openxmlformats.org/officeDocument/2006/math">
                    <m:d>
                      <m:dPr>
                        <m:begChr m:val="{"/>
                        <m:endChr m:val="}"/>
                        <m:ctrlPr>
                          <a:rPr lang="en-US" i="1" smtClean="0">
                            <a:latin typeface="Cambria Math" panose="02040503050406030204" pitchFamily="18" charset="0"/>
                          </a:rPr>
                        </m:ctrlPr>
                      </m:dPr>
                      <m:e>
                        <m:d>
                          <m:dPr>
                            <m:begChr m:val="|"/>
                            <m:endChr m:val=""/>
                            <m:ctrlPr>
                              <a:rPr lang="en-US" i="1">
                                <a:latin typeface="Cambria Math" panose="02040503050406030204" pitchFamily="18" charset="0"/>
                              </a:rPr>
                            </m:ctrlPr>
                          </m:dPr>
                          <m:e>
                            <m:d>
                              <m:dPr>
                                <m:begChr m:val=""/>
                                <m:endChr m:val="⟩"/>
                                <m:ctrlPr>
                                  <a:rPr lang="en-US" i="1">
                                    <a:latin typeface="Cambria Math" panose="02040503050406030204" pitchFamily="18" charset="0"/>
                                  </a:rPr>
                                </m:ctrlPr>
                              </m:dPr>
                              <m:e>
                                <m:r>
                                  <a:rPr lang="en-US" i="1">
                                    <a:latin typeface="Cambria Math" panose="02040503050406030204" pitchFamily="18" charset="0"/>
                                  </a:rPr>
                                  <m:t>0</m:t>
                                </m:r>
                              </m:e>
                            </m:d>
                          </m:e>
                        </m:d>
                        <m:r>
                          <a:rPr lang="en-US" b="0" i="1" smtClean="0">
                            <a:latin typeface="Cambria Math" panose="02040503050406030204" pitchFamily="18" charset="0"/>
                          </a:rPr>
                          <m:t>,</m:t>
                        </m:r>
                        <m:d>
                          <m:dPr>
                            <m:begChr m:val="|"/>
                            <m:endChr m:val=""/>
                            <m:ctrlPr>
                              <a:rPr lang="en-US" i="1">
                                <a:latin typeface="Cambria Math" panose="02040503050406030204" pitchFamily="18" charset="0"/>
                              </a:rPr>
                            </m:ctrlPr>
                          </m:dPr>
                          <m:e>
                            <m:d>
                              <m:dPr>
                                <m:begChr m:val=""/>
                                <m:endChr m:val="⟩"/>
                                <m:ctrlPr>
                                  <a:rPr lang="en-US" i="1">
                                    <a:latin typeface="Cambria Math" panose="02040503050406030204" pitchFamily="18" charset="0"/>
                                  </a:rPr>
                                </m:ctrlPr>
                              </m:dPr>
                              <m:e>
                                <m:r>
                                  <a:rPr lang="en-US" b="0" i="1" smtClean="0">
                                    <a:latin typeface="Cambria Math" panose="02040503050406030204" pitchFamily="18" charset="0"/>
                                  </a:rPr>
                                  <m:t>1</m:t>
                                </m:r>
                              </m:e>
                            </m:d>
                          </m:e>
                        </m:d>
                      </m:e>
                    </m:d>
                  </m:oMath>
                </a14:m>
                <a:r>
                  <a:rPr lang="en-US" dirty="0"/>
                  <a:t>  span the two-dimensional linear vector (Hilbert) space of the qubit</a:t>
                </a:r>
              </a:p>
              <a:p>
                <a:pPr lvl="1"/>
                <a:r>
                  <a:rPr lang="en-US" dirty="0"/>
                  <a:t>The state of the qubit is described by:</a:t>
                </a:r>
                <a14:m>
                  <m:oMath xmlns:m="http://schemas.openxmlformats.org/officeDocument/2006/math">
                    <m:d>
                      <m:dPr>
                        <m:begChr m:val="|"/>
                        <m:endChr m:val=""/>
                        <m:ctrlPr>
                          <a:rPr lang="en-US" i="1">
                            <a:latin typeface="Cambria Math" panose="02040503050406030204" pitchFamily="18" charset="0"/>
                          </a:rPr>
                        </m:ctrlPr>
                      </m:dPr>
                      <m:e>
                        <m:d>
                          <m:dPr>
                            <m:begChr m:val=""/>
                            <m:endChr m:val="⟩"/>
                            <m:ctrlPr>
                              <a:rPr lang="en-US" i="1">
                                <a:latin typeface="Cambria Math" panose="02040503050406030204" pitchFamily="18" charset="0"/>
                              </a:rPr>
                            </m:ctrlPr>
                          </m:dPr>
                          <m:e>
                            <m:r>
                              <a:rPr lang="en-US" i="1" smtClean="0">
                                <a:latin typeface="Cambria Math" panose="02040503050406030204" pitchFamily="18" charset="0"/>
                                <a:ea typeface="Cambria Math" panose="02040503050406030204" pitchFamily="18" charset="0"/>
                              </a:rPr>
                              <m:t>𝜓</m:t>
                            </m:r>
                          </m:e>
                        </m:d>
                      </m:e>
                    </m:d>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𝛼</m:t>
                    </m:r>
                    <m:d>
                      <m:dPr>
                        <m:begChr m:val="|"/>
                        <m:endChr m:val=""/>
                        <m:ctrlPr>
                          <a:rPr lang="en-US" i="1">
                            <a:latin typeface="Cambria Math" panose="02040503050406030204" pitchFamily="18" charset="0"/>
                          </a:rPr>
                        </m:ctrlPr>
                      </m:dPr>
                      <m:e>
                        <m:d>
                          <m:dPr>
                            <m:begChr m:val=""/>
                            <m:endChr m:val="⟩"/>
                            <m:ctrlPr>
                              <a:rPr lang="en-US" i="1">
                                <a:latin typeface="Cambria Math" panose="02040503050406030204" pitchFamily="18" charset="0"/>
                              </a:rPr>
                            </m:ctrlPr>
                          </m:dPr>
                          <m:e>
                            <m:r>
                              <a:rPr lang="en-US" i="1">
                                <a:latin typeface="Cambria Math" panose="02040503050406030204" pitchFamily="18" charset="0"/>
                              </a:rPr>
                              <m:t>0</m:t>
                            </m:r>
                          </m:e>
                        </m:d>
                      </m:e>
                    </m:d>
                    <m:r>
                      <a:rPr lang="en-US" b="0" i="1" smtClean="0">
                        <a:latin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𝛽</m:t>
                    </m:r>
                    <m:d>
                      <m:dPr>
                        <m:begChr m:val="|"/>
                        <m:endChr m:val=""/>
                        <m:ctrlPr>
                          <a:rPr lang="en-US" i="1">
                            <a:latin typeface="Cambria Math" panose="02040503050406030204" pitchFamily="18" charset="0"/>
                          </a:rPr>
                        </m:ctrlPr>
                      </m:dPr>
                      <m:e>
                        <m:d>
                          <m:dPr>
                            <m:begChr m:val=""/>
                            <m:endChr m:val="⟩"/>
                            <m:ctrlPr>
                              <a:rPr lang="en-US" i="1">
                                <a:latin typeface="Cambria Math" panose="02040503050406030204" pitchFamily="18" charset="0"/>
                              </a:rPr>
                            </m:ctrlPr>
                          </m:dPr>
                          <m:e>
                            <m:r>
                              <a:rPr lang="en-US" i="1">
                                <a:latin typeface="Cambria Math" panose="02040503050406030204" pitchFamily="18" charset="0"/>
                              </a:rPr>
                              <m:t>1</m:t>
                            </m:r>
                          </m:e>
                        </m:d>
                      </m:e>
                    </m:d>
                  </m:oMath>
                </a14:m>
                <a:endParaRPr lang="en-US" dirty="0"/>
              </a:p>
              <a:p>
                <a:pPr lvl="2"/>
                <a:r>
                  <a:rPr lang="en-US" dirty="0"/>
                  <a:t>where </a:t>
                </a:r>
                <a14:m>
                  <m:oMath xmlns:m="http://schemas.openxmlformats.org/officeDocument/2006/math">
                    <m:sSup>
                      <m:sSupPr>
                        <m:ctrlPr>
                          <a:rPr lang="en-US" i="1" smtClean="0">
                            <a:latin typeface="Cambria Math" panose="02040503050406030204" pitchFamily="18" charset="0"/>
                          </a:rPr>
                        </m:ctrlPr>
                      </m:sSupPr>
                      <m:e>
                        <m:d>
                          <m:dPr>
                            <m:begChr m:val="|"/>
                            <m:endChr m:val="|"/>
                            <m:ctrlPr>
                              <a:rPr lang="en-US" i="1">
                                <a:latin typeface="Cambria Math" panose="02040503050406030204" pitchFamily="18" charset="0"/>
                              </a:rPr>
                            </m:ctrlPr>
                          </m:dPr>
                          <m:e>
                            <m:r>
                              <a:rPr lang="en-US" i="1">
                                <a:latin typeface="Cambria Math" panose="02040503050406030204" pitchFamily="18" charset="0"/>
                                <a:ea typeface="Cambria Math" panose="02040503050406030204" pitchFamily="18" charset="0"/>
                              </a:rPr>
                              <m:t>𝛼</m:t>
                            </m:r>
                          </m:e>
                        </m:d>
                      </m:e>
                      <m:sup>
                        <m:r>
                          <a:rPr lang="en-US" b="0" i="1" smtClean="0">
                            <a:latin typeface="Cambria Math" panose="02040503050406030204" pitchFamily="18" charset="0"/>
                          </a:rPr>
                          <m:t>2</m:t>
                        </m:r>
                      </m:sup>
                    </m:sSup>
                    <m:r>
                      <a:rPr lang="en-US" b="0" i="1" smtClean="0">
                        <a:latin typeface="Cambria Math" panose="02040503050406030204" pitchFamily="18" charset="0"/>
                      </a:rPr>
                      <m:t>+ </m:t>
                    </m:r>
                    <m:sSup>
                      <m:sSupPr>
                        <m:ctrlPr>
                          <a:rPr lang="en-US" i="1">
                            <a:latin typeface="Cambria Math" panose="02040503050406030204" pitchFamily="18" charset="0"/>
                          </a:rPr>
                        </m:ctrlPr>
                      </m:sSupPr>
                      <m:e>
                        <m:d>
                          <m:dPr>
                            <m:begChr m:val="|"/>
                            <m:endChr m:val="|"/>
                            <m:ctrlPr>
                              <a:rPr lang="en-US" i="1">
                                <a:latin typeface="Cambria Math" panose="02040503050406030204" pitchFamily="18" charset="0"/>
                              </a:rPr>
                            </m:ctrlPr>
                          </m:dPr>
                          <m:e>
                            <m:r>
                              <a:rPr lang="en-US" i="1" smtClean="0">
                                <a:latin typeface="Cambria Math" panose="02040503050406030204" pitchFamily="18" charset="0"/>
                                <a:ea typeface="Cambria Math" panose="02040503050406030204" pitchFamily="18" charset="0"/>
                              </a:rPr>
                              <m:t>𝛽</m:t>
                            </m:r>
                          </m:e>
                        </m:d>
                      </m:e>
                      <m:sup>
                        <m:r>
                          <a:rPr lang="en-US" i="1">
                            <a:latin typeface="Cambria Math" panose="02040503050406030204" pitchFamily="18" charset="0"/>
                          </a:rPr>
                          <m:t>2</m:t>
                        </m:r>
                      </m:sup>
                    </m:sSup>
                    <m:r>
                      <a:rPr lang="en-US" b="0" i="1" smtClean="0">
                        <a:latin typeface="Cambria Math" panose="02040503050406030204" pitchFamily="18" charset="0"/>
                      </a:rPr>
                      <m:t>=1</m:t>
                    </m:r>
                  </m:oMath>
                </a14:m>
                <a:endParaRPr lang="en-US" dirty="0"/>
              </a:p>
              <a:p>
                <a:pPr lvl="1"/>
                <a:r>
                  <a:rPr lang="en-US" dirty="0"/>
                  <a:t>Block sphere representation</a:t>
                </a:r>
              </a:p>
              <a:p>
                <a:pPr lvl="2"/>
                <a14:m>
                  <m:oMath xmlns:m="http://schemas.openxmlformats.org/officeDocument/2006/math">
                    <m:d>
                      <m:dPr>
                        <m:begChr m:val="|"/>
                        <m:endChr m:val=""/>
                        <m:ctrlPr>
                          <a:rPr lang="en-US" i="1">
                            <a:latin typeface="Cambria Math" panose="02040503050406030204" pitchFamily="18" charset="0"/>
                          </a:rPr>
                        </m:ctrlPr>
                      </m:dPr>
                      <m:e>
                        <m:d>
                          <m:dPr>
                            <m:begChr m:val=""/>
                            <m:endChr m:val="⟩"/>
                            <m:ctrlPr>
                              <a:rPr lang="en-US" i="1">
                                <a:latin typeface="Cambria Math" panose="02040503050406030204" pitchFamily="18" charset="0"/>
                              </a:rPr>
                            </m:ctrlPr>
                          </m:dPr>
                          <m:e>
                            <m:r>
                              <a:rPr lang="en-US" i="1">
                                <a:latin typeface="Cambria Math" panose="02040503050406030204" pitchFamily="18" charset="0"/>
                                <a:ea typeface="Cambria Math" panose="02040503050406030204" pitchFamily="18" charset="0"/>
                              </a:rPr>
                              <m:t>𝜓</m:t>
                            </m:r>
                          </m:e>
                        </m:d>
                      </m:e>
                    </m:d>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𝑐𝑜𝑠</m:t>
                    </m:r>
                    <m:f>
                      <m:fPr>
                        <m:ctrlPr>
                          <a:rPr lang="en-US" b="0" i="1" smtClean="0">
                            <a:latin typeface="Cambria Math" panose="02040503050406030204" pitchFamily="18" charset="0"/>
                            <a:ea typeface="Cambria Math" panose="02040503050406030204" pitchFamily="18" charset="0"/>
                          </a:rPr>
                        </m:ctrlPr>
                      </m:fPr>
                      <m:num>
                        <m:r>
                          <a:rPr lang="en-US" b="0" i="1" smtClean="0">
                            <a:latin typeface="Cambria Math" panose="02040503050406030204" pitchFamily="18" charset="0"/>
                            <a:ea typeface="Cambria Math" panose="02040503050406030204" pitchFamily="18" charset="0"/>
                          </a:rPr>
                          <m:t>𝜃</m:t>
                        </m:r>
                      </m:num>
                      <m:den>
                        <m:r>
                          <a:rPr lang="en-US" b="0" i="1" smtClean="0">
                            <a:latin typeface="Cambria Math" panose="02040503050406030204" pitchFamily="18" charset="0"/>
                            <a:ea typeface="Cambria Math" panose="02040503050406030204" pitchFamily="18" charset="0"/>
                          </a:rPr>
                          <m:t>2</m:t>
                        </m:r>
                      </m:den>
                    </m:f>
                    <m:d>
                      <m:dPr>
                        <m:begChr m:val="|"/>
                        <m:endChr m:val=""/>
                        <m:ctrlPr>
                          <a:rPr lang="en-US" i="1">
                            <a:latin typeface="Cambria Math" panose="02040503050406030204" pitchFamily="18" charset="0"/>
                          </a:rPr>
                        </m:ctrlPr>
                      </m:dPr>
                      <m:e>
                        <m:d>
                          <m:dPr>
                            <m:begChr m:val=""/>
                            <m:endChr m:val="⟩"/>
                            <m:ctrlPr>
                              <a:rPr lang="en-US" i="1">
                                <a:latin typeface="Cambria Math" panose="02040503050406030204" pitchFamily="18" charset="0"/>
                              </a:rPr>
                            </m:ctrlPr>
                          </m:dPr>
                          <m:e>
                            <m:r>
                              <a:rPr lang="en-US" i="1">
                                <a:latin typeface="Cambria Math" panose="02040503050406030204" pitchFamily="18" charset="0"/>
                              </a:rPr>
                              <m:t>0</m:t>
                            </m:r>
                          </m:e>
                        </m:d>
                      </m:e>
                    </m:d>
                    <m:r>
                      <a:rPr lang="en-US" i="1">
                        <a:latin typeface="Cambria Math" panose="02040503050406030204" pitchFamily="18" charset="0"/>
                      </a:rPr>
                      <m:t>+</m:t>
                    </m:r>
                    <m:sSup>
                      <m:sSupPr>
                        <m:ctrlPr>
                          <a:rPr lang="en-US" i="1" smtClean="0">
                            <a:latin typeface="Cambria Math" panose="02040503050406030204" pitchFamily="18" charset="0"/>
                          </a:rPr>
                        </m:ctrlPr>
                      </m:sSupPr>
                      <m:e>
                        <m:r>
                          <a:rPr lang="en-US" b="0" i="1" smtClean="0">
                            <a:latin typeface="Cambria Math" panose="02040503050406030204" pitchFamily="18" charset="0"/>
                          </a:rPr>
                          <m:t>𝑒</m:t>
                        </m:r>
                      </m:e>
                      <m:sup>
                        <m:r>
                          <a:rPr lang="en-US" b="0" i="1" smtClean="0">
                            <a:latin typeface="Cambria Math" panose="02040503050406030204" pitchFamily="18" charset="0"/>
                          </a:rPr>
                          <m:t>𝑖</m:t>
                        </m:r>
                        <m:r>
                          <a:rPr lang="en-US" b="0" i="1" smtClean="0">
                            <a:latin typeface="Cambria Math" panose="02040503050406030204" pitchFamily="18" charset="0"/>
                            <a:ea typeface="Cambria Math" panose="02040503050406030204" pitchFamily="18" charset="0"/>
                          </a:rPr>
                          <m:t>𝜑</m:t>
                        </m:r>
                      </m:sup>
                    </m:sSup>
                    <m:r>
                      <a:rPr lang="en-US" b="0" i="1" smtClean="0">
                        <a:latin typeface="Cambria Math" panose="02040503050406030204" pitchFamily="18" charset="0"/>
                        <a:ea typeface="Cambria Math" panose="02040503050406030204" pitchFamily="18" charset="0"/>
                      </a:rPr>
                      <m:t>𝑠𝑖𝑛</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𝜃</m:t>
                        </m:r>
                      </m:num>
                      <m:den>
                        <m:r>
                          <a:rPr lang="en-US" i="1">
                            <a:latin typeface="Cambria Math" panose="02040503050406030204" pitchFamily="18" charset="0"/>
                            <a:ea typeface="Cambria Math" panose="02040503050406030204" pitchFamily="18" charset="0"/>
                          </a:rPr>
                          <m:t>2</m:t>
                        </m:r>
                      </m:den>
                    </m:f>
                    <m:d>
                      <m:dPr>
                        <m:begChr m:val="|"/>
                        <m:endChr m:val=""/>
                        <m:ctrlPr>
                          <a:rPr lang="en-US" i="1">
                            <a:latin typeface="Cambria Math" panose="02040503050406030204" pitchFamily="18" charset="0"/>
                          </a:rPr>
                        </m:ctrlPr>
                      </m:dPr>
                      <m:e>
                        <m:d>
                          <m:dPr>
                            <m:begChr m:val=""/>
                            <m:endChr m:val="⟩"/>
                            <m:ctrlPr>
                              <a:rPr lang="en-US" i="1">
                                <a:latin typeface="Cambria Math" panose="02040503050406030204" pitchFamily="18" charset="0"/>
                              </a:rPr>
                            </m:ctrlPr>
                          </m:dPr>
                          <m:e>
                            <m:r>
                              <a:rPr lang="en-US" i="1">
                                <a:latin typeface="Cambria Math" panose="02040503050406030204" pitchFamily="18" charset="0"/>
                              </a:rPr>
                              <m:t>1</m:t>
                            </m:r>
                          </m:e>
                        </m:d>
                      </m:e>
                    </m:d>
                  </m:oMath>
                </a14:m>
                <a:endParaRPr lang="en-US" dirty="0"/>
              </a:p>
            </p:txBody>
          </p:sp>
        </mc:Choice>
        <mc:Fallback>
          <p:sp>
            <p:nvSpPr>
              <p:cNvPr id="3" name="Content Placeholder 2">
                <a:extLst>
                  <a:ext uri="{FF2B5EF4-FFF2-40B4-BE49-F238E27FC236}">
                    <a16:creationId xmlns:a16="http://schemas.microsoft.com/office/drawing/2014/main" id="{EC957167-ABA1-F20A-C441-7CA2BD994848}"/>
                  </a:ext>
                </a:extLst>
              </p:cNvPr>
              <p:cNvSpPr>
                <a:spLocks noGrp="1" noRot="1" noChangeAspect="1" noMove="1" noResize="1" noEditPoints="1" noAdjustHandles="1" noChangeArrowheads="1" noChangeShapeType="1" noTextEdit="1"/>
              </p:cNvSpPr>
              <p:nvPr>
                <p:ph idx="1"/>
              </p:nvPr>
            </p:nvSpPr>
            <p:spPr>
              <a:xfrm>
                <a:off x="117528" y="167305"/>
                <a:ext cx="9661903" cy="4985881"/>
              </a:xfrm>
              <a:blipFill>
                <a:blip r:embed="rId2"/>
                <a:stretch>
                  <a:fillRect l="-1183" t="-2030" r="-920" b="-6599"/>
                </a:stretch>
              </a:blipFill>
            </p:spPr>
            <p:txBody>
              <a:bodyPr/>
              <a:lstStyle/>
              <a:p>
                <a:r>
                  <a:rPr lang="en-US">
                    <a:noFill/>
                  </a:rPr>
                  <a:t> </a:t>
                </a:r>
              </a:p>
            </p:txBody>
          </p:sp>
        </mc:Fallback>
      </mc:AlternateContent>
      <p:pic>
        <p:nvPicPr>
          <p:cNvPr id="8197" name="Picture 5">
            <a:extLst>
              <a:ext uri="{FF2B5EF4-FFF2-40B4-BE49-F238E27FC236}">
                <a16:creationId xmlns:a16="http://schemas.microsoft.com/office/drawing/2014/main" id="{4BD56C24-9AF4-83B2-26D6-770FEDA892D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787898" y="3532983"/>
            <a:ext cx="4230069" cy="3103467"/>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9A13805A-BF1B-D193-C582-04DBF53FE300}"/>
              </a:ext>
            </a:extLst>
          </p:cNvPr>
          <p:cNvSpPr txBox="1"/>
          <p:nvPr/>
        </p:nvSpPr>
        <p:spPr>
          <a:xfrm>
            <a:off x="6544160" y="6581001"/>
            <a:ext cx="5647840" cy="276999"/>
          </a:xfrm>
          <a:prstGeom prst="rect">
            <a:avLst/>
          </a:prstGeom>
          <a:noFill/>
        </p:spPr>
        <p:txBody>
          <a:bodyPr wrap="square">
            <a:spAutoFit/>
          </a:bodyPr>
          <a:lstStyle/>
          <a:p>
            <a:r>
              <a:rPr lang="en-US" sz="1200" dirty="0"/>
              <a:t>https://</a:t>
            </a:r>
            <a:r>
              <a:rPr lang="en-US" sz="1200" dirty="0" err="1"/>
              <a:t>www.sharetechnote.com</a:t>
            </a:r>
            <a:r>
              <a:rPr lang="en-US" sz="1200" dirty="0"/>
              <a:t>/html/QC/</a:t>
            </a:r>
            <a:r>
              <a:rPr lang="en-US" sz="1200" dirty="0" err="1"/>
              <a:t>QuantumComputing_BlochSphere.html</a:t>
            </a:r>
            <a:endParaRPr lang="en-US" sz="1200" dirty="0"/>
          </a:p>
        </p:txBody>
      </p:sp>
    </p:spTree>
    <p:extLst>
      <p:ext uri="{BB962C8B-B14F-4D97-AF65-F5344CB8AC3E}">
        <p14:creationId xmlns:p14="http://schemas.microsoft.com/office/powerpoint/2010/main" val="276364323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E1259B-570E-386D-9083-8D7D31554B0E}"/>
              </a:ext>
            </a:extLst>
          </p:cNvPr>
          <p:cNvSpPr>
            <a:spLocks noGrp="1"/>
          </p:cNvSpPr>
          <p:nvPr>
            <p:ph type="title"/>
          </p:nvPr>
        </p:nvSpPr>
        <p:spPr/>
        <p:txBody>
          <a:bodyPr/>
          <a:lstStyle/>
          <a:p>
            <a:r>
              <a:rPr lang="en-US" dirty="0"/>
              <a:t>Entanglement</a:t>
            </a:r>
          </a:p>
        </p:txBody>
      </p:sp>
      <p:sp>
        <p:nvSpPr>
          <p:cNvPr id="3" name="Content Placeholder 2">
            <a:extLst>
              <a:ext uri="{FF2B5EF4-FFF2-40B4-BE49-F238E27FC236}">
                <a16:creationId xmlns:a16="http://schemas.microsoft.com/office/drawing/2014/main" id="{F607BE4B-C9C8-714F-D3F6-BB3C4DDE7FA2}"/>
              </a:ext>
            </a:extLst>
          </p:cNvPr>
          <p:cNvSpPr>
            <a:spLocks noGrp="1"/>
          </p:cNvSpPr>
          <p:nvPr>
            <p:ph idx="1"/>
          </p:nvPr>
        </p:nvSpPr>
        <p:spPr/>
        <p:txBody>
          <a:bodyPr/>
          <a:lstStyle/>
          <a:p>
            <a:r>
              <a:rPr lang="en-US" dirty="0"/>
              <a:t>Quantum entanglement is a phenomenon where two or more quantum particles become linked in such a way that the state of one particle instantly determines the state of the other, no matter how far apart they are. In simple terms, it's like having two perfectly synchronized dice: if you roll one and get a six, the other—no matter where it is in the universe—will also show six at the exact same moment.</a:t>
            </a:r>
          </a:p>
        </p:txBody>
      </p:sp>
      <p:pic>
        <p:nvPicPr>
          <p:cNvPr id="5" name="Graphic 4" descr="Ghost with solid fill">
            <a:extLst>
              <a:ext uri="{FF2B5EF4-FFF2-40B4-BE49-F238E27FC236}">
                <a16:creationId xmlns:a16="http://schemas.microsoft.com/office/drawing/2014/main" id="{7D811188-ECCE-565C-7D71-C9B213BAE61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784597" y="386557"/>
            <a:ext cx="914400" cy="914400"/>
          </a:xfrm>
          <a:prstGeom prst="rect">
            <a:avLst/>
          </a:prstGeom>
        </p:spPr>
      </p:pic>
      <p:sp>
        <p:nvSpPr>
          <p:cNvPr id="9" name="TextBox 8">
            <a:extLst>
              <a:ext uri="{FF2B5EF4-FFF2-40B4-BE49-F238E27FC236}">
                <a16:creationId xmlns:a16="http://schemas.microsoft.com/office/drawing/2014/main" id="{08BB41B9-1752-D366-A9B2-5C5DD272EE41}"/>
              </a:ext>
            </a:extLst>
          </p:cNvPr>
          <p:cNvSpPr txBox="1"/>
          <p:nvPr/>
        </p:nvSpPr>
        <p:spPr>
          <a:xfrm>
            <a:off x="4754106" y="6492875"/>
            <a:ext cx="7357820" cy="276999"/>
          </a:xfrm>
          <a:prstGeom prst="rect">
            <a:avLst/>
          </a:prstGeom>
          <a:noFill/>
        </p:spPr>
        <p:txBody>
          <a:bodyPr wrap="square">
            <a:spAutoFit/>
          </a:bodyPr>
          <a:lstStyle/>
          <a:p>
            <a:r>
              <a:rPr lang="en-US" sz="1200" dirty="0">
                <a:hlinkClick r:id="rId4"/>
              </a:rPr>
              <a:t>https://www.spinquanta.com/news-detail/understanding-quantum-entanglement-the-ultimate-expert-guide</a:t>
            </a:r>
            <a:r>
              <a:rPr lang="en-US" sz="1200" dirty="0"/>
              <a:t> </a:t>
            </a:r>
          </a:p>
        </p:txBody>
      </p:sp>
    </p:spTree>
    <p:extLst>
      <p:ext uri="{BB962C8B-B14F-4D97-AF65-F5344CB8AC3E}">
        <p14:creationId xmlns:p14="http://schemas.microsoft.com/office/powerpoint/2010/main" val="13592696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A52C4E-918D-3153-E883-897BA38C084C}"/>
              </a:ext>
            </a:extLst>
          </p:cNvPr>
          <p:cNvSpPr>
            <a:spLocks noGrp="1"/>
          </p:cNvSpPr>
          <p:nvPr>
            <p:ph type="title"/>
          </p:nvPr>
        </p:nvSpPr>
        <p:spPr/>
        <p:txBody>
          <a:bodyPr/>
          <a:lstStyle/>
          <a:p>
            <a:r>
              <a:rPr lang="en-US" dirty="0"/>
              <a:t>Entanglement in quantum computing</a:t>
            </a:r>
          </a:p>
        </p:txBody>
      </p:sp>
      <p:sp>
        <p:nvSpPr>
          <p:cNvPr id="3" name="Content Placeholder 2">
            <a:extLst>
              <a:ext uri="{FF2B5EF4-FFF2-40B4-BE49-F238E27FC236}">
                <a16:creationId xmlns:a16="http://schemas.microsoft.com/office/drawing/2014/main" id="{B039A310-AEE8-2815-D0E1-2E1686F27C75}"/>
              </a:ext>
            </a:extLst>
          </p:cNvPr>
          <p:cNvSpPr>
            <a:spLocks noGrp="1"/>
          </p:cNvSpPr>
          <p:nvPr>
            <p:ph idx="1"/>
          </p:nvPr>
        </p:nvSpPr>
        <p:spPr/>
        <p:txBody>
          <a:bodyPr>
            <a:normAutofit fontScale="92500" lnSpcReduction="10000"/>
          </a:bodyPr>
          <a:lstStyle/>
          <a:p>
            <a:r>
              <a:rPr lang="en-US" b="1" dirty="0"/>
              <a:t>Parallelism and Information Sharing</a:t>
            </a:r>
            <a:r>
              <a:rPr lang="en-US" dirty="0"/>
              <a:t>: Entanglement allows qubits to represent and process multiple values simultaneously, increasing computational parallelism.</a:t>
            </a:r>
          </a:p>
          <a:p>
            <a:r>
              <a:rPr lang="en-US" b="1" dirty="0"/>
              <a:t>Quantum Speedup</a:t>
            </a:r>
            <a:r>
              <a:rPr lang="en-US" dirty="0"/>
              <a:t>: Many quantum algorithms (such as Shor's algorithm and Grover's algorithm) rely on entangled states to outperform their classical counterparts.</a:t>
            </a:r>
          </a:p>
          <a:p>
            <a:r>
              <a:rPr lang="en-US" b="1" dirty="0"/>
              <a:t>Quantum Error Correction</a:t>
            </a:r>
            <a:r>
              <a:rPr lang="en-US" dirty="0"/>
              <a:t>: Entangled qubits are used to detect and correct errors in quantum systems, maintaining coherence over longer periods.</a:t>
            </a:r>
          </a:p>
          <a:p>
            <a:r>
              <a:rPr lang="en-US" b="1" dirty="0"/>
              <a:t>Quantum Gate Operations</a:t>
            </a:r>
            <a:r>
              <a:rPr lang="en-US" dirty="0"/>
              <a:t>: Multi-qubit quantum gates like the CNOT gate depend on entanglement to manipulate data across qubits.</a:t>
            </a:r>
          </a:p>
        </p:txBody>
      </p:sp>
      <p:sp>
        <p:nvSpPr>
          <p:cNvPr id="4" name="TextBox 3">
            <a:extLst>
              <a:ext uri="{FF2B5EF4-FFF2-40B4-BE49-F238E27FC236}">
                <a16:creationId xmlns:a16="http://schemas.microsoft.com/office/drawing/2014/main" id="{5E148807-69D7-09D3-572E-797EF7C54E9F}"/>
              </a:ext>
            </a:extLst>
          </p:cNvPr>
          <p:cNvSpPr txBox="1"/>
          <p:nvPr/>
        </p:nvSpPr>
        <p:spPr>
          <a:xfrm>
            <a:off x="6604862" y="6581001"/>
            <a:ext cx="5587138" cy="276999"/>
          </a:xfrm>
          <a:prstGeom prst="rect">
            <a:avLst/>
          </a:prstGeom>
          <a:noFill/>
        </p:spPr>
        <p:txBody>
          <a:bodyPr wrap="square">
            <a:spAutoFit/>
          </a:bodyPr>
          <a:lstStyle/>
          <a:p>
            <a:r>
              <a:rPr lang="en-US" sz="1200" dirty="0">
                <a:hlinkClick r:id="rId2"/>
              </a:rPr>
              <a:t>https://www.spinquanta.com/news-detail/entanglement-in-quantum-computing</a:t>
            </a:r>
            <a:r>
              <a:rPr lang="en-US" sz="1200" dirty="0"/>
              <a:t> </a:t>
            </a:r>
          </a:p>
        </p:txBody>
      </p:sp>
    </p:spTree>
    <p:extLst>
      <p:ext uri="{BB962C8B-B14F-4D97-AF65-F5344CB8AC3E}">
        <p14:creationId xmlns:p14="http://schemas.microsoft.com/office/powerpoint/2010/main" val="24465778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71BFEC-9080-B1D8-5731-3A14ACE7571E}"/>
              </a:ext>
            </a:extLst>
          </p:cNvPr>
          <p:cNvSpPr>
            <a:spLocks noGrp="1"/>
          </p:cNvSpPr>
          <p:nvPr>
            <p:ph type="title"/>
          </p:nvPr>
        </p:nvSpPr>
        <p:spPr/>
        <p:txBody>
          <a:bodyPr/>
          <a:lstStyle/>
          <a:p>
            <a:r>
              <a:rPr lang="en-US" dirty="0"/>
              <a:t>Quantum Interference</a:t>
            </a:r>
          </a:p>
        </p:txBody>
      </p:sp>
      <p:sp>
        <p:nvSpPr>
          <p:cNvPr id="3" name="Content Placeholder 2">
            <a:extLst>
              <a:ext uri="{FF2B5EF4-FFF2-40B4-BE49-F238E27FC236}">
                <a16:creationId xmlns:a16="http://schemas.microsoft.com/office/drawing/2014/main" id="{968416E7-13A9-41C1-7481-EA2A4F8D4F0C}"/>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51516379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6691B-1BF4-C4F0-3450-A098694913FC}"/>
              </a:ext>
            </a:extLst>
          </p:cNvPr>
          <p:cNvSpPr>
            <a:spLocks noGrp="1"/>
          </p:cNvSpPr>
          <p:nvPr>
            <p:ph type="title"/>
          </p:nvPr>
        </p:nvSpPr>
        <p:spPr/>
        <p:txBody>
          <a:bodyPr/>
          <a:lstStyle/>
          <a:p>
            <a:r>
              <a:rPr lang="en-US" dirty="0"/>
              <a:t>Quantum Errors – Quantum Computing largest challenge</a:t>
            </a:r>
          </a:p>
        </p:txBody>
      </p:sp>
      <p:sp>
        <p:nvSpPr>
          <p:cNvPr id="3" name="Content Placeholder 2">
            <a:extLst>
              <a:ext uri="{FF2B5EF4-FFF2-40B4-BE49-F238E27FC236}">
                <a16:creationId xmlns:a16="http://schemas.microsoft.com/office/drawing/2014/main" id="{90D2F15B-CC95-8E8A-786D-BF5D56B2DAC2}"/>
              </a:ext>
            </a:extLst>
          </p:cNvPr>
          <p:cNvSpPr>
            <a:spLocks noGrp="1"/>
          </p:cNvSpPr>
          <p:nvPr>
            <p:ph idx="1"/>
          </p:nvPr>
        </p:nvSpPr>
        <p:spPr/>
        <p:txBody>
          <a:bodyPr>
            <a:normAutofit/>
          </a:bodyPr>
          <a:lstStyle/>
          <a:p>
            <a:r>
              <a:rPr lang="en-US" dirty="0"/>
              <a:t>Qubits superposition makes them extremely sensitive to environmental interference</a:t>
            </a:r>
          </a:p>
          <a:p>
            <a:pPr lvl="1"/>
            <a:r>
              <a:rPr lang="en-US" dirty="0"/>
              <a:t>Bit flips, phase flips, or both, depolarizing and amplitude damping</a:t>
            </a:r>
          </a:p>
          <a:p>
            <a:r>
              <a:rPr lang="en-US" dirty="0"/>
              <a:t>Quantum Error Correction (QEC)</a:t>
            </a:r>
          </a:p>
          <a:p>
            <a:pPr lvl="1"/>
            <a:r>
              <a:rPr lang="en-US" dirty="0"/>
              <a:t>Surface Code: Uses a 2D-lattice of qubits</a:t>
            </a:r>
          </a:p>
          <a:p>
            <a:pPr lvl="1"/>
            <a:r>
              <a:rPr lang="en-US" dirty="0"/>
              <a:t>Shor’s Code: Employs nine physical qubits to encode one logical qubit and can correct any single-qubit error.</a:t>
            </a:r>
          </a:p>
          <a:p>
            <a:pPr lvl="1"/>
            <a:r>
              <a:rPr lang="en-US" dirty="0"/>
              <a:t>Steane Code: A seven-qubit CSS (Calderbank-Shor-Steane) code correcting single-qubit errors using fewer resources than Shor’s code</a:t>
            </a:r>
          </a:p>
          <a:p>
            <a:r>
              <a:rPr lang="en-US" dirty="0"/>
              <a:t>Recent advances by IBM [1,2] and others</a:t>
            </a:r>
          </a:p>
        </p:txBody>
      </p:sp>
      <p:sp>
        <p:nvSpPr>
          <p:cNvPr id="5" name="TextBox 4">
            <a:extLst>
              <a:ext uri="{FF2B5EF4-FFF2-40B4-BE49-F238E27FC236}">
                <a16:creationId xmlns:a16="http://schemas.microsoft.com/office/drawing/2014/main" id="{1CF437C0-20C9-F242-9840-99B03B4122A8}"/>
              </a:ext>
            </a:extLst>
          </p:cNvPr>
          <p:cNvSpPr txBox="1"/>
          <p:nvPr/>
        </p:nvSpPr>
        <p:spPr>
          <a:xfrm>
            <a:off x="275093" y="6176963"/>
            <a:ext cx="11782587" cy="430887"/>
          </a:xfrm>
          <a:prstGeom prst="rect">
            <a:avLst/>
          </a:prstGeom>
          <a:noFill/>
        </p:spPr>
        <p:txBody>
          <a:bodyPr wrap="square">
            <a:spAutoFit/>
          </a:bodyPr>
          <a:lstStyle/>
          <a:p>
            <a:pPr marL="228600" indent="-228600" algn="l" fontAlgn="base">
              <a:buFont typeface="+mj-lt"/>
              <a:buAutoNum type="arabicPeriod"/>
            </a:pPr>
            <a:r>
              <a:rPr lang="en-US" sz="1100" b="0" i="0" dirty="0" err="1">
                <a:solidFill>
                  <a:srgbClr val="161616"/>
                </a:solidFill>
                <a:effectLst/>
                <a:latin typeface="IBM Plex Sans" panose="020B0503050203000203" pitchFamily="34" charset="0"/>
              </a:rPr>
              <a:t>Bravyi</a:t>
            </a:r>
            <a:r>
              <a:rPr lang="en-US" sz="1100" b="0" i="0" dirty="0">
                <a:solidFill>
                  <a:srgbClr val="161616"/>
                </a:solidFill>
                <a:effectLst/>
                <a:latin typeface="IBM Plex Sans" panose="020B0503050203000203" pitchFamily="34" charset="0"/>
              </a:rPr>
              <a:t>, S., Cross, A.W., Gambetta, J.M. et al. High-threshold and low-overhead fault-tolerant quantum memory. Nature 627, 778–782 (2024).</a:t>
            </a:r>
          </a:p>
          <a:p>
            <a:pPr marL="228600" indent="-228600" fontAlgn="base">
              <a:buFont typeface="+mj-lt"/>
              <a:buAutoNum type="arabicPeriod"/>
            </a:pPr>
            <a:r>
              <a:rPr lang="en-US" sz="1100" dirty="0"/>
              <a:t>Yoder, Theodore J., Eddie </a:t>
            </a:r>
            <a:r>
              <a:rPr lang="en-US" sz="1100" dirty="0" err="1"/>
              <a:t>Schoute</a:t>
            </a:r>
            <a:r>
              <a:rPr lang="en-US" sz="1100" dirty="0"/>
              <a:t>, Patrick Rall, et al. “Tour de Gross: A Modular Quantum Computer Based on Bivariate Bicycle Codes.” arXiv:2506.03094. Preprint, </a:t>
            </a:r>
            <a:r>
              <a:rPr lang="en-US" sz="1100" dirty="0" err="1"/>
              <a:t>arXiv</a:t>
            </a:r>
            <a:r>
              <a:rPr lang="en-US" sz="1100" dirty="0"/>
              <a:t>, June 3, 2025.</a:t>
            </a:r>
          </a:p>
        </p:txBody>
      </p:sp>
    </p:spTree>
    <p:extLst>
      <p:ext uri="{BB962C8B-B14F-4D97-AF65-F5344CB8AC3E}">
        <p14:creationId xmlns:p14="http://schemas.microsoft.com/office/powerpoint/2010/main" val="36181481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2" descr="This is the IBM Quantum Development and Innovation Roadmap 2025. It is a graphic broken into several parts that takes readers through IBM Quantum goals and milestones—past, present, and future—on the road to large-scale, fault-tolerant quantum computing. For details, read the guided roadmap PDF linked above.">
            <a:extLst>
              <a:ext uri="{FF2B5EF4-FFF2-40B4-BE49-F238E27FC236}">
                <a16:creationId xmlns:a16="http://schemas.microsoft.com/office/drawing/2014/main" id="{D931CE3E-68B9-C012-117B-613B2BFC97F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484" t="3583" r="2404" b="3540"/>
          <a:stretch>
            <a:fillRect/>
          </a:stretch>
        </p:blipFill>
        <p:spPr bwMode="auto">
          <a:xfrm>
            <a:off x="104836" y="81539"/>
            <a:ext cx="12002491" cy="653475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4801027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F4FB79-7B60-01A7-2437-C4EA072C6C8F}"/>
              </a:ext>
            </a:extLst>
          </p:cNvPr>
          <p:cNvSpPr>
            <a:spLocks noGrp="1"/>
          </p:cNvSpPr>
          <p:nvPr>
            <p:ph type="title"/>
          </p:nvPr>
        </p:nvSpPr>
        <p:spPr>
          <a:xfrm>
            <a:off x="919739" y="69310"/>
            <a:ext cx="5393698" cy="1325563"/>
          </a:xfrm>
        </p:spPr>
        <p:txBody>
          <a:bodyPr/>
          <a:lstStyle/>
          <a:p>
            <a:r>
              <a:rPr lang="en-US" dirty="0"/>
              <a:t>Quantum Advantage</a:t>
            </a:r>
          </a:p>
        </p:txBody>
      </p:sp>
      <p:sp>
        <p:nvSpPr>
          <p:cNvPr id="3" name="Content Placeholder 2">
            <a:extLst>
              <a:ext uri="{FF2B5EF4-FFF2-40B4-BE49-F238E27FC236}">
                <a16:creationId xmlns:a16="http://schemas.microsoft.com/office/drawing/2014/main" id="{4FA399FE-1CCF-BA64-D6FE-770AE3E9C2FF}"/>
              </a:ext>
            </a:extLst>
          </p:cNvPr>
          <p:cNvSpPr>
            <a:spLocks noGrp="1"/>
          </p:cNvSpPr>
          <p:nvPr>
            <p:ph idx="1"/>
          </p:nvPr>
        </p:nvSpPr>
        <p:spPr>
          <a:xfrm>
            <a:off x="262530" y="1097600"/>
            <a:ext cx="7576848" cy="5137092"/>
          </a:xfrm>
        </p:spPr>
        <p:txBody>
          <a:bodyPr>
            <a:normAutofit lnSpcReduction="10000"/>
          </a:bodyPr>
          <a:lstStyle/>
          <a:p>
            <a:r>
              <a:rPr lang="en-US" dirty="0"/>
              <a:t> A quantum computer can run a computation more accurately, cheaply, or efficiently than a classical computer</a:t>
            </a:r>
          </a:p>
          <a:p>
            <a:r>
              <a:rPr lang="en-US" dirty="0"/>
              <a:t>Effort to develop an accurate measurement [1]</a:t>
            </a:r>
          </a:p>
          <a:p>
            <a:pPr marL="914400" lvl="1" indent="-457200">
              <a:buFont typeface="+mj-lt"/>
              <a:buAutoNum type="arabicPeriod"/>
            </a:pPr>
            <a:r>
              <a:rPr lang="en-US" dirty="0"/>
              <a:t>The correctness of the quantum computer's output can be rigorously validated</a:t>
            </a:r>
          </a:p>
          <a:p>
            <a:pPr marL="914400" lvl="1" indent="-457200">
              <a:buFont typeface="+mj-lt"/>
              <a:buAutoNum type="arabicPeriod"/>
            </a:pPr>
            <a:r>
              <a:rPr lang="en-US" dirty="0"/>
              <a:t>Performed with a </a:t>
            </a:r>
            <a:r>
              <a:rPr lang="en-US" i="1" dirty="0"/>
              <a:t>quantum separation </a:t>
            </a:r>
            <a:r>
              <a:rPr lang="en-US" dirty="0"/>
              <a:t>that demonstrates superior efficiency, cost-effectiveness, or accuracy over what is attainable with classical computation alone</a:t>
            </a:r>
          </a:p>
          <a:p>
            <a:r>
              <a:rPr lang="en-US" dirty="0"/>
              <a:t>Examples of quantum advantage</a:t>
            </a:r>
          </a:p>
          <a:p>
            <a:pPr lvl="1"/>
            <a:r>
              <a:rPr lang="en-US" dirty="0"/>
              <a:t>Microsoft in 2019 [2]</a:t>
            </a:r>
          </a:p>
          <a:p>
            <a:pPr lvl="1"/>
            <a:r>
              <a:rPr lang="en-US" dirty="0"/>
              <a:t>D-Wave in 2025 [3]</a:t>
            </a:r>
          </a:p>
        </p:txBody>
      </p:sp>
      <p:pic>
        <p:nvPicPr>
          <p:cNvPr id="9218" name="Picture 2">
            <a:extLst>
              <a:ext uri="{FF2B5EF4-FFF2-40B4-BE49-F238E27FC236}">
                <a16:creationId xmlns:a16="http://schemas.microsoft.com/office/drawing/2014/main" id="{79249693-8BB3-E68C-9323-A771097A137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716143" y="1"/>
            <a:ext cx="4275802" cy="2912102"/>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0FD11969-4FF4-0E6B-9D99-D6C2505499CD}"/>
              </a:ext>
            </a:extLst>
          </p:cNvPr>
          <p:cNvSpPr txBox="1"/>
          <p:nvPr/>
        </p:nvSpPr>
        <p:spPr>
          <a:xfrm>
            <a:off x="8112320" y="2785145"/>
            <a:ext cx="3606683" cy="253916"/>
          </a:xfrm>
          <a:prstGeom prst="rect">
            <a:avLst/>
          </a:prstGeom>
          <a:noFill/>
        </p:spPr>
        <p:txBody>
          <a:bodyPr wrap="square">
            <a:spAutoFit/>
          </a:bodyPr>
          <a:lstStyle/>
          <a:p>
            <a:r>
              <a:rPr lang="en-US" sz="1000" dirty="0"/>
              <a:t>https://</a:t>
            </a:r>
            <a:r>
              <a:rPr lang="en-US" sz="1000" dirty="0" err="1"/>
              <a:t>www.ibm.com</a:t>
            </a:r>
            <a:r>
              <a:rPr lang="en-US" sz="1000" dirty="0"/>
              <a:t>/quantum/blog/quantum-advantage-era</a:t>
            </a:r>
          </a:p>
        </p:txBody>
      </p:sp>
      <p:sp>
        <p:nvSpPr>
          <p:cNvPr id="7" name="TextBox 6">
            <a:extLst>
              <a:ext uri="{FF2B5EF4-FFF2-40B4-BE49-F238E27FC236}">
                <a16:creationId xmlns:a16="http://schemas.microsoft.com/office/drawing/2014/main" id="{96FFDC0C-99CB-1675-99F8-B2F53D194336}"/>
              </a:ext>
            </a:extLst>
          </p:cNvPr>
          <p:cNvSpPr txBox="1"/>
          <p:nvPr/>
        </p:nvSpPr>
        <p:spPr>
          <a:xfrm>
            <a:off x="90273" y="6234692"/>
            <a:ext cx="11098021" cy="553998"/>
          </a:xfrm>
          <a:prstGeom prst="rect">
            <a:avLst/>
          </a:prstGeom>
          <a:noFill/>
        </p:spPr>
        <p:txBody>
          <a:bodyPr wrap="square">
            <a:spAutoFit/>
          </a:bodyPr>
          <a:lstStyle/>
          <a:p>
            <a:pPr marL="228600" indent="-228600">
              <a:buFont typeface="+mj-lt"/>
              <a:buAutoNum type="arabicPeriod"/>
            </a:pPr>
            <a:r>
              <a:rPr lang="en-US" sz="1000" dirty="0">
                <a:effectLst/>
              </a:rPr>
              <a:t>Lanes, Olivia, Mourad Beji, Antonio D. Corcoles, et al. “A Framework for Quantum Advantage.” arXiv:2506.20658. Preprint, </a:t>
            </a:r>
            <a:r>
              <a:rPr lang="en-US" sz="1000" dirty="0" err="1">
                <a:effectLst/>
              </a:rPr>
              <a:t>arXiv</a:t>
            </a:r>
            <a:r>
              <a:rPr lang="en-US" sz="1000" dirty="0">
                <a:effectLst/>
              </a:rPr>
              <a:t>, July 14, 2025.</a:t>
            </a:r>
            <a:r>
              <a:rPr lang="en-US" sz="1000" dirty="0"/>
              <a:t> </a:t>
            </a:r>
          </a:p>
          <a:p>
            <a:pPr marL="228600" indent="-228600">
              <a:buFont typeface="+mj-lt"/>
              <a:buAutoNum type="arabicPeriod"/>
            </a:pPr>
            <a:r>
              <a:rPr lang="en-US" sz="1000" dirty="0" err="1"/>
              <a:t>Arute</a:t>
            </a:r>
            <a:r>
              <a:rPr lang="en-US" sz="1000" dirty="0"/>
              <a:t>, Frank, Kunal Arya, Ryan </a:t>
            </a:r>
            <a:r>
              <a:rPr lang="en-US" sz="1000" dirty="0" err="1"/>
              <a:t>Babbush</a:t>
            </a:r>
            <a:r>
              <a:rPr lang="en-US" sz="1000" dirty="0"/>
              <a:t>, et al. “Quantum Supremacy Using a Programmable Superconducting Processor.” </a:t>
            </a:r>
            <a:r>
              <a:rPr lang="en-US" sz="1000" i="1" dirty="0"/>
              <a:t>Nature</a:t>
            </a:r>
            <a:r>
              <a:rPr lang="en-US" sz="1000" dirty="0"/>
              <a:t> 574, no. 7779 (2019): 505–10.</a:t>
            </a:r>
          </a:p>
          <a:p>
            <a:pPr marL="228600" indent="-228600">
              <a:buFont typeface="+mj-lt"/>
              <a:buAutoNum type="arabicPeriod"/>
            </a:pPr>
            <a:r>
              <a:rPr lang="en-US" sz="1000" dirty="0"/>
              <a:t>King, Andrew D., Alberto Nocera, Marek M. Rams, et al. “Beyond-Classical Computation in Quantum Simulation.” </a:t>
            </a:r>
            <a:r>
              <a:rPr lang="en-US" sz="1000" i="1" dirty="0"/>
              <a:t>Science</a:t>
            </a:r>
            <a:r>
              <a:rPr lang="en-US" sz="1000" dirty="0"/>
              <a:t> 388, no. 6743 (2025): 199–204. </a:t>
            </a:r>
          </a:p>
        </p:txBody>
      </p:sp>
    </p:spTree>
    <p:extLst>
      <p:ext uri="{BB962C8B-B14F-4D97-AF65-F5344CB8AC3E}">
        <p14:creationId xmlns:p14="http://schemas.microsoft.com/office/powerpoint/2010/main" val="386748600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119BC9-CA52-7811-9C0E-240674D93341}"/>
              </a:ext>
            </a:extLst>
          </p:cNvPr>
          <p:cNvSpPr>
            <a:spLocks noGrp="1"/>
          </p:cNvSpPr>
          <p:nvPr>
            <p:ph type="title"/>
          </p:nvPr>
        </p:nvSpPr>
        <p:spPr/>
        <p:txBody>
          <a:bodyPr>
            <a:normAutofit/>
          </a:bodyPr>
          <a:lstStyle/>
          <a:p>
            <a:r>
              <a:rPr lang="en-US" sz="4000" dirty="0"/>
              <a:t>Ok, so what can we do with Quantum Computers?</a:t>
            </a:r>
          </a:p>
        </p:txBody>
      </p:sp>
      <p:sp>
        <p:nvSpPr>
          <p:cNvPr id="3" name="Content Placeholder 2">
            <a:extLst>
              <a:ext uri="{FF2B5EF4-FFF2-40B4-BE49-F238E27FC236}">
                <a16:creationId xmlns:a16="http://schemas.microsoft.com/office/drawing/2014/main" id="{29114E08-045F-70D0-6C67-9531912295D1}"/>
              </a:ext>
            </a:extLst>
          </p:cNvPr>
          <p:cNvSpPr>
            <a:spLocks noGrp="1"/>
          </p:cNvSpPr>
          <p:nvPr>
            <p:ph idx="1"/>
          </p:nvPr>
        </p:nvSpPr>
        <p:spPr>
          <a:xfrm>
            <a:off x="838200" y="1825625"/>
            <a:ext cx="10515600" cy="2827914"/>
          </a:xfrm>
        </p:spPr>
        <p:txBody>
          <a:bodyPr>
            <a:normAutofit fontScale="92500" lnSpcReduction="10000"/>
          </a:bodyPr>
          <a:lstStyle/>
          <a:p>
            <a:r>
              <a:rPr lang="en-US" dirty="0"/>
              <a:t>Shor’s algorithm</a:t>
            </a:r>
          </a:p>
          <a:p>
            <a:pPr lvl="1"/>
            <a:r>
              <a:rPr lang="en-US" dirty="0"/>
              <a:t>Finds prime factors to large numbers (15 = 3 x 5)</a:t>
            </a:r>
          </a:p>
          <a:p>
            <a:pPr lvl="1"/>
            <a:r>
              <a:rPr lang="en-US" dirty="0"/>
              <a:t>Uses quantum mechanics, such as, superposition and quantum Fourier transforms</a:t>
            </a:r>
          </a:p>
          <a:p>
            <a:pPr lvl="1"/>
            <a:r>
              <a:rPr lang="en-US" dirty="0"/>
              <a:t>Exponential speedup</a:t>
            </a:r>
          </a:p>
          <a:p>
            <a:r>
              <a:rPr lang="en-US" dirty="0"/>
              <a:t>Grover's algorithm</a:t>
            </a:r>
          </a:p>
          <a:p>
            <a:pPr lvl="1"/>
            <a:r>
              <a:rPr lang="en-US" dirty="0"/>
              <a:t>Search algorithm</a:t>
            </a:r>
          </a:p>
          <a:p>
            <a:pPr lvl="1"/>
            <a:r>
              <a:rPr lang="en-US" dirty="0"/>
              <a:t>Quadratic speedup</a:t>
            </a:r>
          </a:p>
          <a:p>
            <a:endParaRPr lang="en-US" dirty="0"/>
          </a:p>
        </p:txBody>
      </p:sp>
      <p:sp>
        <p:nvSpPr>
          <p:cNvPr id="5" name="TextBox 4">
            <a:extLst>
              <a:ext uri="{FF2B5EF4-FFF2-40B4-BE49-F238E27FC236}">
                <a16:creationId xmlns:a16="http://schemas.microsoft.com/office/drawing/2014/main" id="{8C000989-760A-2FD5-3BC4-CBD98A9F4BEF}"/>
              </a:ext>
            </a:extLst>
          </p:cNvPr>
          <p:cNvSpPr txBox="1"/>
          <p:nvPr/>
        </p:nvSpPr>
        <p:spPr>
          <a:xfrm>
            <a:off x="144635" y="6074374"/>
            <a:ext cx="12047365" cy="646331"/>
          </a:xfrm>
          <a:prstGeom prst="rect">
            <a:avLst/>
          </a:prstGeom>
          <a:noFill/>
        </p:spPr>
        <p:txBody>
          <a:bodyPr wrap="square">
            <a:spAutoFit/>
          </a:bodyPr>
          <a:lstStyle/>
          <a:p>
            <a:r>
              <a:rPr lang="en-US" sz="1200" dirty="0"/>
              <a:t>Shor, P.W. (1994). "Algorithms for quantum computation: Discrete logarithms and factoring". Proceedings 35th Annual Symposium on Foundations of Computer Science. pp. 124–134.</a:t>
            </a:r>
          </a:p>
          <a:p>
            <a:r>
              <a:rPr lang="en-US" sz="1200" dirty="0"/>
              <a:t>Grover, Lov K. (1996-07-01). "A fast quantum mechanical algorithm for database search". Proceedings of the twenty-eighth annual ACM symposium on Theory of computing - STOC '96. Philadelphia, Pennsylvania, USA: Association for Computing Machinery. pp. 212–219. </a:t>
            </a:r>
            <a:r>
              <a:rPr lang="en-US" sz="1200" dirty="0" err="1"/>
              <a:t>arXiv:quant-ph</a:t>
            </a:r>
            <a:r>
              <a:rPr lang="en-US" sz="1200" dirty="0"/>
              <a:t>/9605043.</a:t>
            </a:r>
          </a:p>
        </p:txBody>
      </p:sp>
    </p:spTree>
    <p:extLst>
      <p:ext uri="{BB962C8B-B14F-4D97-AF65-F5344CB8AC3E}">
        <p14:creationId xmlns:p14="http://schemas.microsoft.com/office/powerpoint/2010/main" val="23570643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357FFA-8BFF-B698-4A0E-8085D802C158}"/>
              </a:ext>
            </a:extLst>
          </p:cNvPr>
          <p:cNvSpPr>
            <a:spLocks noGrp="1"/>
          </p:cNvSpPr>
          <p:nvPr>
            <p:ph type="title"/>
          </p:nvPr>
        </p:nvSpPr>
        <p:spPr/>
        <p:txBody>
          <a:bodyPr/>
          <a:lstStyle/>
          <a:p>
            <a:r>
              <a:rPr lang="en-US" dirty="0"/>
              <a:t>Quantum Machine Learning (QML)</a:t>
            </a:r>
          </a:p>
        </p:txBody>
      </p:sp>
      <p:sp>
        <p:nvSpPr>
          <p:cNvPr id="3" name="Content Placeholder 2">
            <a:extLst>
              <a:ext uri="{FF2B5EF4-FFF2-40B4-BE49-F238E27FC236}">
                <a16:creationId xmlns:a16="http://schemas.microsoft.com/office/drawing/2014/main" id="{7CE53B9D-1523-C841-C79A-D2DA206C6269}"/>
              </a:ext>
            </a:extLst>
          </p:cNvPr>
          <p:cNvSpPr>
            <a:spLocks noGrp="1"/>
          </p:cNvSpPr>
          <p:nvPr>
            <p:ph idx="1"/>
          </p:nvPr>
        </p:nvSpPr>
        <p:spPr>
          <a:xfrm>
            <a:off x="838200" y="1825625"/>
            <a:ext cx="7898106" cy="4351338"/>
          </a:xfrm>
        </p:spPr>
        <p:txBody>
          <a:bodyPr/>
          <a:lstStyle/>
          <a:p>
            <a:endParaRPr lang="en-US" dirty="0"/>
          </a:p>
        </p:txBody>
      </p:sp>
      <p:sp>
        <p:nvSpPr>
          <p:cNvPr id="5" name="TextBox 4">
            <a:extLst>
              <a:ext uri="{FF2B5EF4-FFF2-40B4-BE49-F238E27FC236}">
                <a16:creationId xmlns:a16="http://schemas.microsoft.com/office/drawing/2014/main" id="{7A738366-637B-7588-E69B-C45B6743FB54}"/>
              </a:ext>
            </a:extLst>
          </p:cNvPr>
          <p:cNvSpPr txBox="1"/>
          <p:nvPr/>
        </p:nvSpPr>
        <p:spPr>
          <a:xfrm>
            <a:off x="8564492" y="6292820"/>
            <a:ext cx="4165276" cy="400110"/>
          </a:xfrm>
          <a:prstGeom prst="rect">
            <a:avLst/>
          </a:prstGeom>
          <a:noFill/>
        </p:spPr>
        <p:txBody>
          <a:bodyPr wrap="square">
            <a:spAutoFit/>
          </a:bodyPr>
          <a:lstStyle/>
          <a:p>
            <a:r>
              <a:rPr lang="en-US" sz="1000" dirty="0"/>
              <a:t>By Maria Schuld - Own work, CC BY-SA 4.0, https://</a:t>
            </a:r>
            <a:r>
              <a:rPr lang="en-US" sz="1000" dirty="0" err="1"/>
              <a:t>commons.wikimedia.org</a:t>
            </a:r>
            <a:r>
              <a:rPr lang="en-US" sz="1000" dirty="0"/>
              <a:t>/w/</a:t>
            </a:r>
            <a:r>
              <a:rPr lang="en-US" sz="1000" dirty="0" err="1"/>
              <a:t>index.php?curid</a:t>
            </a:r>
            <a:r>
              <a:rPr lang="en-US" sz="1000" dirty="0"/>
              <a:t>=55676381</a:t>
            </a:r>
          </a:p>
        </p:txBody>
      </p:sp>
      <p:pic>
        <p:nvPicPr>
          <p:cNvPr id="10242" name="Picture 2" descr="undefined">
            <a:extLst>
              <a:ext uri="{FF2B5EF4-FFF2-40B4-BE49-F238E27FC236}">
                <a16:creationId xmlns:a16="http://schemas.microsoft.com/office/drawing/2014/main" id="{958452CB-9823-AE48-8EC2-20194309E7B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637601" y="3909234"/>
            <a:ext cx="2168599" cy="212464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9306766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1C9648-6966-1A3E-0A68-0BB37FBC0DDD}"/>
              </a:ext>
            </a:extLst>
          </p:cNvPr>
          <p:cNvSpPr>
            <a:spLocks noGrp="1"/>
          </p:cNvSpPr>
          <p:nvPr>
            <p:ph type="title"/>
          </p:nvPr>
        </p:nvSpPr>
        <p:spPr/>
        <p:txBody>
          <a:bodyPr/>
          <a:lstStyle/>
          <a:p>
            <a:endParaRPr lang="en-US"/>
          </a:p>
        </p:txBody>
      </p:sp>
      <p:graphicFrame>
        <p:nvGraphicFramePr>
          <p:cNvPr id="4" name="Content Placeholder 3">
            <a:extLst>
              <a:ext uri="{FF2B5EF4-FFF2-40B4-BE49-F238E27FC236}">
                <a16:creationId xmlns:a16="http://schemas.microsoft.com/office/drawing/2014/main" id="{D15E89A9-EA21-8BB6-9A14-C3F606D6B3B3}"/>
              </a:ext>
            </a:extLst>
          </p:cNvPr>
          <p:cNvGraphicFramePr>
            <a:graphicFrameLocks noGrp="1"/>
          </p:cNvGraphicFramePr>
          <p:nvPr>
            <p:ph idx="1"/>
            <p:extLst>
              <p:ext uri="{D42A27DB-BD31-4B8C-83A1-F6EECF244321}">
                <p14:modId xmlns:p14="http://schemas.microsoft.com/office/powerpoint/2010/main" val="1147515568"/>
              </p:ext>
            </p:extLst>
          </p:nvPr>
        </p:nvGraphicFramePr>
        <p:xfrm>
          <a:off x="838200" y="1825625"/>
          <a:ext cx="10515600" cy="1854200"/>
        </p:xfrm>
        <a:graphic>
          <a:graphicData uri="http://schemas.openxmlformats.org/drawingml/2006/table">
            <a:tbl>
              <a:tblPr firstRow="1" bandRow="1">
                <a:tableStyleId>{5C22544A-7EE6-4342-B048-85BDC9FD1C3A}</a:tableStyleId>
              </a:tblPr>
              <a:tblGrid>
                <a:gridCol w="2103120">
                  <a:extLst>
                    <a:ext uri="{9D8B030D-6E8A-4147-A177-3AD203B41FA5}">
                      <a16:colId xmlns:a16="http://schemas.microsoft.com/office/drawing/2014/main" val="3665471056"/>
                    </a:ext>
                  </a:extLst>
                </a:gridCol>
                <a:gridCol w="2103120">
                  <a:extLst>
                    <a:ext uri="{9D8B030D-6E8A-4147-A177-3AD203B41FA5}">
                      <a16:colId xmlns:a16="http://schemas.microsoft.com/office/drawing/2014/main" val="984934371"/>
                    </a:ext>
                  </a:extLst>
                </a:gridCol>
                <a:gridCol w="2103120">
                  <a:extLst>
                    <a:ext uri="{9D8B030D-6E8A-4147-A177-3AD203B41FA5}">
                      <a16:colId xmlns:a16="http://schemas.microsoft.com/office/drawing/2014/main" val="731230005"/>
                    </a:ext>
                  </a:extLst>
                </a:gridCol>
                <a:gridCol w="2103120">
                  <a:extLst>
                    <a:ext uri="{9D8B030D-6E8A-4147-A177-3AD203B41FA5}">
                      <a16:colId xmlns:a16="http://schemas.microsoft.com/office/drawing/2014/main" val="750352791"/>
                    </a:ext>
                  </a:extLst>
                </a:gridCol>
                <a:gridCol w="2103120">
                  <a:extLst>
                    <a:ext uri="{9D8B030D-6E8A-4147-A177-3AD203B41FA5}">
                      <a16:colId xmlns:a16="http://schemas.microsoft.com/office/drawing/2014/main" val="1383897814"/>
                    </a:ext>
                  </a:extLst>
                </a:gridCol>
              </a:tblGrid>
              <a:tr h="370840">
                <a:tc>
                  <a:txBody>
                    <a:bodyPr/>
                    <a:lstStyle/>
                    <a:p>
                      <a:r>
                        <a:rPr lang="en-US" dirty="0"/>
                        <a:t>Company</a:t>
                      </a:r>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2871318469"/>
                  </a:ext>
                </a:extLst>
              </a:tr>
              <a:tr h="370840">
                <a:tc>
                  <a:txBody>
                    <a:bodyPr/>
                    <a:lstStyle/>
                    <a:p>
                      <a:r>
                        <a:rPr lang="en-US" dirty="0"/>
                        <a:t>IBM</a:t>
                      </a:r>
                    </a:p>
                  </a:txBody>
                  <a:tcPr/>
                </a:tc>
                <a:tc>
                  <a:txBody>
                    <a:bodyPr/>
                    <a:lstStyle/>
                    <a:p>
                      <a:r>
                        <a:rPr lang="en-US" dirty="0" err="1"/>
                        <a:t>Qiskit</a:t>
                      </a:r>
                      <a:endParaRPr lang="en-US" dirty="0"/>
                    </a:p>
                  </a:txBody>
                  <a:tcPr/>
                </a:tc>
                <a:tc>
                  <a:txBody>
                    <a:bodyPr/>
                    <a:lstStyle/>
                    <a:p>
                      <a:endParaRPr lang="en-US" dirty="0"/>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4292011256"/>
                  </a:ext>
                </a:extLst>
              </a:tr>
              <a:tr h="370840">
                <a:tc>
                  <a:txBody>
                    <a:bodyPr/>
                    <a:lstStyle/>
                    <a:p>
                      <a:r>
                        <a:rPr lang="en-US" dirty="0"/>
                        <a:t>Google</a:t>
                      </a:r>
                    </a:p>
                  </a:txBody>
                  <a:tcPr/>
                </a:tc>
                <a:tc>
                  <a:txBody>
                    <a:bodyPr/>
                    <a:lstStyle/>
                    <a:p>
                      <a:r>
                        <a:rPr lang="en-US" dirty="0"/>
                        <a:t>Cirq</a:t>
                      </a:r>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3869017722"/>
                  </a:ext>
                </a:extLst>
              </a:tr>
              <a:tr h="370840">
                <a:tc>
                  <a:txBody>
                    <a:bodyPr/>
                    <a:lstStyle/>
                    <a:p>
                      <a:r>
                        <a:rPr lang="en-US" dirty="0" err="1"/>
                        <a:t>SpinQ</a:t>
                      </a:r>
                      <a:endParaRPr lang="en-US" dirty="0"/>
                    </a:p>
                  </a:txBody>
                  <a:tcPr/>
                </a:tc>
                <a:tc>
                  <a:txBody>
                    <a:bodyPr/>
                    <a:lstStyle/>
                    <a:p>
                      <a:r>
                        <a:rPr lang="en-US" dirty="0" err="1"/>
                        <a:t>ApinQ</a:t>
                      </a:r>
                      <a:endParaRPr lang="en-US" dirty="0"/>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2465801745"/>
                  </a:ext>
                </a:extLst>
              </a:tr>
              <a:tr h="370840">
                <a:tc>
                  <a:txBody>
                    <a:bodyPr/>
                    <a:lstStyle/>
                    <a:p>
                      <a:r>
                        <a:rPr lang="en-US" dirty="0"/>
                        <a:t>Amazon</a:t>
                      </a:r>
                    </a:p>
                  </a:txBody>
                  <a:tcPr/>
                </a:tc>
                <a:tc>
                  <a:txBody>
                    <a:bodyPr/>
                    <a:lstStyle/>
                    <a:p>
                      <a:r>
                        <a:rPr lang="en-US"/>
                        <a:t>Braket</a:t>
                      </a:r>
                    </a:p>
                  </a:txBody>
                  <a:tcPr/>
                </a:tc>
                <a:tc>
                  <a:txBody>
                    <a:bodyPr/>
                    <a:lstStyle/>
                    <a:p>
                      <a:endParaRPr lang="en-US"/>
                    </a:p>
                  </a:txBody>
                  <a:tcPr/>
                </a:tc>
                <a:tc>
                  <a:txBody>
                    <a:bodyPr/>
                    <a:lstStyle/>
                    <a:p>
                      <a:endParaRPr lang="en-US"/>
                    </a:p>
                  </a:txBody>
                  <a:tcPr/>
                </a:tc>
                <a:tc>
                  <a:txBody>
                    <a:bodyPr/>
                    <a:lstStyle/>
                    <a:p>
                      <a:endParaRPr lang="en-US" dirty="0"/>
                    </a:p>
                  </a:txBody>
                  <a:tcPr/>
                </a:tc>
                <a:extLst>
                  <a:ext uri="{0D108BD9-81ED-4DB2-BD59-A6C34878D82A}">
                    <a16:rowId xmlns:a16="http://schemas.microsoft.com/office/drawing/2014/main" val="3868639556"/>
                  </a:ext>
                </a:extLst>
              </a:tr>
            </a:tbl>
          </a:graphicData>
        </a:graphic>
      </p:graphicFrame>
    </p:spTree>
    <p:extLst>
      <p:ext uri="{BB962C8B-B14F-4D97-AF65-F5344CB8AC3E}">
        <p14:creationId xmlns:p14="http://schemas.microsoft.com/office/powerpoint/2010/main" val="200502048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Fig. 2">
            <a:extLst>
              <a:ext uri="{FF2B5EF4-FFF2-40B4-BE49-F238E27FC236}">
                <a16:creationId xmlns:a16="http://schemas.microsoft.com/office/drawing/2014/main" id="{79A52043-EAE1-6FB2-E744-27288B61561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77826" y="137786"/>
            <a:ext cx="6834201" cy="5411244"/>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47C85FB1-C38A-066A-CC25-FA873C8C0A4C}"/>
              </a:ext>
            </a:extLst>
          </p:cNvPr>
          <p:cNvSpPr txBox="1"/>
          <p:nvPr/>
        </p:nvSpPr>
        <p:spPr>
          <a:xfrm>
            <a:off x="1428116" y="5796884"/>
            <a:ext cx="8532312" cy="523220"/>
          </a:xfrm>
          <a:prstGeom prst="rect">
            <a:avLst/>
          </a:prstGeom>
          <a:noFill/>
        </p:spPr>
        <p:txBody>
          <a:bodyPr wrap="square">
            <a:spAutoFit/>
          </a:bodyPr>
          <a:lstStyle/>
          <a:p>
            <a:pPr>
              <a:buNone/>
            </a:pPr>
            <a:r>
              <a:rPr lang="en-US" sz="1400" dirty="0">
                <a:effectLst/>
              </a:rPr>
              <a:t>Huang, Hsin-Yuan, Michael Broughton, Masoud Mohseni, et al. “Power of Data in Quantum Machine Learning.” </a:t>
            </a:r>
            <a:r>
              <a:rPr lang="en-US" sz="1400" i="1" dirty="0">
                <a:effectLst/>
              </a:rPr>
              <a:t>Nature Communications</a:t>
            </a:r>
            <a:r>
              <a:rPr lang="en-US" sz="1400" dirty="0">
                <a:effectLst/>
              </a:rPr>
              <a:t> 12, no. 1 (2021): 2631. </a:t>
            </a:r>
            <a:r>
              <a:rPr lang="en-US" sz="1400" dirty="0">
                <a:effectLst/>
                <a:hlinkClick r:id="rId3"/>
              </a:rPr>
              <a:t>https://doi.org/10.1038/s41467-021-22539-9</a:t>
            </a:r>
            <a:r>
              <a:rPr lang="en-US" sz="1400" dirty="0">
                <a:effectLst/>
              </a:rPr>
              <a:t>.</a:t>
            </a:r>
          </a:p>
        </p:txBody>
      </p:sp>
    </p:spTree>
    <p:extLst>
      <p:ext uri="{BB962C8B-B14F-4D97-AF65-F5344CB8AC3E}">
        <p14:creationId xmlns:p14="http://schemas.microsoft.com/office/powerpoint/2010/main" val="308944467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8B158DB-B6E0-3CFD-142C-70D265F30C0D}"/>
              </a:ext>
            </a:extLst>
          </p:cNvPr>
          <p:cNvPicPr>
            <a:picLocks noChangeAspect="1"/>
          </p:cNvPicPr>
          <p:nvPr/>
        </p:nvPicPr>
        <p:blipFill>
          <a:blip r:embed="rId2"/>
          <a:stretch>
            <a:fillRect/>
          </a:stretch>
        </p:blipFill>
        <p:spPr>
          <a:xfrm>
            <a:off x="2209800" y="47311"/>
            <a:ext cx="7772400" cy="6763377"/>
          </a:xfrm>
          <a:prstGeom prst="rect">
            <a:avLst/>
          </a:prstGeom>
        </p:spPr>
      </p:pic>
    </p:spTree>
    <p:extLst>
      <p:ext uri="{BB962C8B-B14F-4D97-AF65-F5344CB8AC3E}">
        <p14:creationId xmlns:p14="http://schemas.microsoft.com/office/powerpoint/2010/main" val="233415823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990794cc-8ced-4156-9787-a1fbf819c752}" enabled="1" method="Standard" siteId="{a25fff9c-3f63-4fb2-9a8a-d9bdd0321f9a}" removed="0"/>
</clbl:labelList>
</file>

<file path=docProps/app.xml><?xml version="1.0" encoding="utf-8"?>
<Properties xmlns="http://schemas.openxmlformats.org/officeDocument/2006/extended-properties" xmlns:vt="http://schemas.openxmlformats.org/officeDocument/2006/docPropsVTypes">
  <TotalTime>2082</TotalTime>
  <Words>1282</Words>
  <Application>Microsoft Macintosh PowerPoint</Application>
  <PresentationFormat>Widescreen</PresentationFormat>
  <Paragraphs>103</Paragraphs>
  <Slides>20</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20</vt:i4>
      </vt:variant>
    </vt:vector>
  </HeadingPairs>
  <TitlesOfParts>
    <vt:vector size="28" baseType="lpstr">
      <vt:lpstr>Aptos</vt:lpstr>
      <vt:lpstr>Aptos Display</vt:lpstr>
      <vt:lpstr>Arial</vt:lpstr>
      <vt:lpstr>Cambria Math</vt:lpstr>
      <vt:lpstr>IBM Plex Sans</vt:lpstr>
      <vt:lpstr>inherit</vt:lpstr>
      <vt:lpstr>Segoe UI</vt:lpstr>
      <vt:lpstr>Office Theme</vt:lpstr>
      <vt:lpstr>Quantum Computing</vt:lpstr>
      <vt:lpstr>PowerPoint Presentation</vt:lpstr>
      <vt:lpstr>Outline</vt:lpstr>
      <vt:lpstr>What is a Quantum Computer</vt:lpstr>
      <vt:lpstr>PowerPoint Presentation</vt:lpstr>
      <vt:lpstr>PowerPoint Presentation</vt:lpstr>
      <vt:lpstr>PowerPoint Presentation</vt:lpstr>
      <vt:lpstr>What is a Qubit?</vt:lpstr>
      <vt:lpstr>PowerPoint Presentation</vt:lpstr>
      <vt:lpstr>Entanglement</vt:lpstr>
      <vt:lpstr>Entanglement in quantum computing</vt:lpstr>
      <vt:lpstr>Quantum Interference</vt:lpstr>
      <vt:lpstr>Quantum Errors – Quantum Computing largest challenge</vt:lpstr>
      <vt:lpstr>PowerPoint Presentation</vt:lpstr>
      <vt:lpstr>Quantum Advantage</vt:lpstr>
      <vt:lpstr>Ok, so what can we do with Quantum Computers?</vt:lpstr>
      <vt:lpstr>Quantum Machine Learning (QML)</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Berglund, Anders, Ph.D.</dc:creator>
  <cp:lastModifiedBy>Berglund, Anders, Ph.D.</cp:lastModifiedBy>
  <cp:revision>2</cp:revision>
  <dcterms:created xsi:type="dcterms:W3CDTF">2025-12-19T22:28:26Z</dcterms:created>
  <dcterms:modified xsi:type="dcterms:W3CDTF">2026-01-17T21:32:52Z</dcterms:modified>
</cp:coreProperties>
</file>